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7" r:id="rId4"/>
    <p:sldId id="276" r:id="rId5"/>
    <p:sldId id="260" r:id="rId6"/>
    <p:sldId id="264" r:id="rId7"/>
    <p:sldId id="266" r:id="rId8"/>
    <p:sldId id="263" r:id="rId9"/>
    <p:sldId id="265" r:id="rId10"/>
    <p:sldId id="267" r:id="rId11"/>
    <p:sldId id="268" r:id="rId12"/>
    <p:sldId id="269" r:id="rId13"/>
    <p:sldId id="270" r:id="rId14"/>
    <p:sldId id="278" r:id="rId15"/>
    <p:sldId id="272" r:id="rId16"/>
    <p:sldId id="273" r:id="rId17"/>
    <p:sldId id="274" r:id="rId18"/>
    <p:sldId id="275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46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144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082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vivantoumort0@yandex.ru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txBody>
          <a:bodyPr wrap="square" anchor="t"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7A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ИНЖЕНЕРНАЯ ЗАДАЧА  ·  ПРЕЗЕНТАЦИЯ РЕШЕНИЯ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72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поиска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предположительного места утери БВС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50749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ИКСРОС  ·  РосНОУ  ·  Республика Саха (Якутия)</a:t>
            </a:r>
            <a:endParaRPr lang="en-US" sz="1400" dirty="0"/>
          </a:p>
          <a:p>
            <a:pPr marL="0" indent="0">
              <a:buNone/>
            </a:pPr>
            <a:r>
              <a:rPr lang="ru-RU" sz="1400" dirty="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</a:t>
            </a:r>
            <a:r>
              <a:rPr lang="en-US" sz="1400" dirty="0" err="1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аставник</a:t>
            </a:r>
            <a:r>
              <a:rPr lang="en-US" sz="1400" dirty="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Растягаев Д. В.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ОБЩАЯ ИНФОРМАЦИЯ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0" y="2743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1064240" cy="12802"/>
          </a:xfrm>
          <a:prstGeom prst="rect">
            <a:avLst/>
          </a:prstGeom>
          <a:solidFill>
            <a:srgbClr val="C8C4B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ИКСРОС  ·  БВС-Поиск  ·  РосНОУ / Якутия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5288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Общие сведения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9494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u="none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мы и какая задача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1353312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49808" y="1426464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Образовательная организация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1664208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Российский новый университет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157984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49808" y="2231136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Образовательная программа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246888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Инженерно-техническая разработка в сфере БАС: программное решение для определения вероятной зоны потери БВС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2962656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49808" y="3035808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" y="327355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Республика Саха (Якутия)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767328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49808" y="384048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Инженерная задача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" y="4078224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поиска предположительного места утери БВС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49808" y="464515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 команды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" y="4882896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ИКСРОС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376672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49808" y="5449824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Наставник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" y="5687568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Растягаев Дмитрий Владимирович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endParaRPr sz="2400" dirty="0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3578352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804672" y="1656555"/>
            <a:ext cx="1040093" cy="379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7A9E82"/>
                </a:solidFill>
                <a:latin typeface="Calibri"/>
                <a:ea typeface="Calibri"/>
                <a:cs typeface="Calibri"/>
              </a:rPr>
              <a:t>Капитан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23222"/>
            <a:ext cx="1337161" cy="3590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Алексеев 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89889"/>
            <a:ext cx="3185160" cy="543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470"/>
                </a:solidFill>
                <a:latin typeface="Calibri"/>
                <a:ea typeface="Calibri"/>
                <a:cs typeface="Calibri"/>
              </a:rPr>
              <a:t>Сроки, задачи, связь с наставником и заказчиком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1584" y="1389888"/>
            <a:ext cx="3578352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4547616" y="1656555"/>
            <a:ext cx="1298945" cy="379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7A9E82"/>
                </a:solidFill>
                <a:latin typeface="Calibri"/>
                <a:ea typeface="Calibri"/>
                <a:cs typeface="Calibri"/>
              </a:rPr>
              <a:t>Аналитика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6" y="2123222"/>
            <a:ext cx="1856662" cy="3590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Константинова С.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7616" y="2589889"/>
            <a:ext cx="318516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470"/>
                </a:solidFill>
                <a:latin typeface="Calibri"/>
                <a:ea typeface="Calibri"/>
                <a:cs typeface="Calibri"/>
              </a:rPr>
              <a:t>Требования, сценарии, форматы логов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4528" y="1389888"/>
            <a:ext cx="3578352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8290560" y="1656555"/>
            <a:ext cx="1607556" cy="379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7A9E82"/>
                </a:solidFill>
                <a:latin typeface="Calibri"/>
                <a:ea typeface="Calibri"/>
                <a:cs typeface="Calibri"/>
              </a:rPr>
              <a:t>Ядро / расчёт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0560" y="2123222"/>
            <a:ext cx="1781257" cy="3590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Кривошапкин 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0560" y="2589889"/>
            <a:ext cx="318516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470"/>
                </a:solidFill>
                <a:latin typeface="Calibri"/>
                <a:ea typeface="Calibri"/>
                <a:cs typeface="Calibri"/>
              </a:rPr>
              <a:t>Парсер, гипотезы, зона, JSON/KML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04488"/>
            <a:ext cx="3578352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804672" y="4171154"/>
            <a:ext cx="1508939" cy="379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7A9E82"/>
                </a:solidFill>
                <a:latin typeface="Calibri"/>
                <a:ea typeface="Calibri"/>
                <a:cs typeface="Calibri"/>
              </a:rPr>
              <a:t>Окно / карта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637822"/>
            <a:ext cx="1167564" cy="3590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Тихонов Г.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104488"/>
            <a:ext cx="318516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470"/>
                </a:solidFill>
                <a:latin typeface="Calibri"/>
                <a:ea typeface="Calibri"/>
                <a:cs typeface="Calibri"/>
              </a:rPr>
              <a:t>Интерфейс приложения и карта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1584" y="3904488"/>
            <a:ext cx="3578352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4547616" y="4171154"/>
            <a:ext cx="962123" cy="379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7A9E82"/>
                </a:solidFill>
                <a:latin typeface="Calibri"/>
                <a:ea typeface="Calibri"/>
                <a:cs typeface="Calibri"/>
              </a:rPr>
              <a:t>Дизайн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7616" y="4637822"/>
            <a:ext cx="1245597" cy="3590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Адамова Г.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7616" y="5104488"/>
            <a:ext cx="3185160" cy="543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470"/>
                </a:solidFill>
                <a:latin typeface="Calibri"/>
                <a:ea typeface="Calibri"/>
                <a:cs typeface="Calibri"/>
              </a:rPr>
              <a:t>Макет экрана, понятность для оператора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34528" y="3904488"/>
            <a:ext cx="3578352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 sz="2400"/>
          </a:p>
        </p:txBody>
      </p:sp>
      <p:sp>
        <p:nvSpPr>
          <p:cNvPr id="34" name="TextBox 33"/>
          <p:cNvSpPr txBox="1"/>
          <p:nvPr/>
        </p:nvSpPr>
        <p:spPr>
          <a:xfrm>
            <a:off x="8290560" y="4171154"/>
            <a:ext cx="1607941" cy="379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7A9E82"/>
                </a:solidFill>
                <a:latin typeface="Calibri"/>
                <a:ea typeface="Calibri"/>
                <a:cs typeface="Calibri"/>
              </a:rPr>
              <a:t>Тестирование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0560" y="4637822"/>
            <a:ext cx="1567801" cy="3590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Харитонова А.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0560" y="5104488"/>
            <a:ext cx="3185160" cy="543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470"/>
                </a:solidFill>
                <a:latin typeface="Calibri"/>
                <a:ea typeface="Calibri"/>
                <a:cs typeface="Calibri"/>
              </a:rPr>
              <a:t>Прогоны на логах, стабильность расчёта</a:t>
            </a:r>
          </a:p>
        </p:txBody>
      </p:sp>
      <p:sp>
        <p:nvSpPr>
          <p:cNvPr id="42" name="Text 1">
            <a:extLst>
              <a:ext uri="{FF2B5EF4-FFF2-40B4-BE49-F238E27FC236}">
                <a16:creationId xmlns:a16="http://schemas.microsoft.com/office/drawing/2014/main" id="{C105031E-3444-D24A-B7AE-E200F554E360}"/>
              </a:ext>
            </a:extLst>
          </p:cNvPr>
          <p:cNvSpPr/>
          <p:nvPr/>
        </p:nvSpPr>
        <p:spPr>
          <a:xfrm>
            <a:off x="548640" y="28507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СОСТАВ КОМАНДЫ</a:t>
            </a:r>
            <a:endParaRPr lang="en-US" sz="1100" dirty="0"/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CE748C5D-6F14-8842-8FD4-BEC4EB1F1996}"/>
              </a:ext>
            </a:extLst>
          </p:cNvPr>
          <p:cNvSpPr/>
          <p:nvPr/>
        </p:nvSpPr>
        <p:spPr>
          <a:xfrm>
            <a:off x="9692640" y="28507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18</a:t>
            </a:r>
            <a:endParaRPr lang="en-US" sz="1100" dirty="0"/>
          </a:p>
        </p:txBody>
      </p:sp>
      <p:sp>
        <p:nvSpPr>
          <p:cNvPr id="44" name="Shape 3">
            <a:extLst>
              <a:ext uri="{FF2B5EF4-FFF2-40B4-BE49-F238E27FC236}">
                <a16:creationId xmlns:a16="http://schemas.microsoft.com/office/drawing/2014/main" id="{E3B74AAD-8F37-AF42-BE3D-2B28F10EB91B}"/>
              </a:ext>
            </a:extLst>
          </p:cNvPr>
          <p:cNvSpPr/>
          <p:nvPr/>
        </p:nvSpPr>
        <p:spPr>
          <a:xfrm>
            <a:off x="548640" y="548640"/>
            <a:ext cx="11064240" cy="12802"/>
          </a:xfrm>
          <a:prstGeom prst="rect">
            <a:avLst/>
          </a:prstGeom>
          <a:solidFill>
            <a:srgbClr val="C8C4B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0" y="6528816"/>
            <a:ext cx="7680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C6470"/>
                </a:solidFill>
                <a:latin typeface="Calibri"/>
                <a:ea typeface="Calibri"/>
                <a:cs typeface="Calibri"/>
              </a:rPr>
              <a:t>ИКСРОС  ·  БВС-Поиск  ·  РосНОУ / Якутия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6528816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C6470"/>
                </a:solidFill>
                <a:latin typeface="Calibri"/>
                <a:ea typeface="Calibri"/>
                <a:cs typeface="Calibri"/>
              </a:rPr>
              <a:t>Команда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94944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u="none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Состав команды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1389888"/>
            <a:ext cx="73152" cy="2267712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291584" y="1389888"/>
            <a:ext cx="73152" cy="2267712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034528" y="1389888"/>
            <a:ext cx="73152" cy="2267712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8640" y="3904488"/>
            <a:ext cx="73152" cy="2267712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291584" y="3904488"/>
            <a:ext cx="73152" cy="2267712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034528" y="3904488"/>
            <a:ext cx="73152" cy="2267712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11064240" cy="625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dirty="0" err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Нужно</a:t>
            </a:r>
            <a:r>
              <a:rPr sz="1500" b="0" dirty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 ПО, </a:t>
            </a:r>
            <a:r>
              <a:rPr sz="1500" b="0" dirty="0" err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которое</a:t>
            </a:r>
            <a:r>
              <a:rPr sz="1500" b="0" dirty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dirty="0" err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по</a:t>
            </a:r>
            <a:r>
              <a:rPr sz="1500" b="0" dirty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dirty="0" err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бортовым</a:t>
            </a:r>
            <a:r>
              <a:rPr sz="1500" b="0" dirty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dirty="0" err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логам</a:t>
            </a:r>
            <a:r>
              <a:rPr sz="1500" b="0" dirty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dirty="0" err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и</a:t>
            </a:r>
            <a:r>
              <a:rPr sz="1500" b="0" dirty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dirty="0" err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аварийным</a:t>
            </a:r>
            <a:r>
              <a:rPr sz="1500" b="0" dirty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dirty="0" err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сигналам</a:t>
            </a:r>
            <a:r>
              <a:rPr sz="1500" b="0" dirty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dirty="0" err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считает</a:t>
            </a:r>
            <a:r>
              <a:rPr sz="1500" b="0" dirty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dirty="0" err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где</a:t>
            </a:r>
            <a:r>
              <a:rPr sz="1500" b="0" dirty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dirty="0" err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искать</a:t>
            </a:r>
            <a:r>
              <a:rPr sz="1500" b="0" dirty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dirty="0" err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потерянный</a:t>
            </a:r>
            <a:r>
              <a:rPr sz="1500" b="0" dirty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 БВС, </a:t>
            </a:r>
            <a:r>
              <a:rPr sz="1500" b="0" dirty="0" err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и</a:t>
            </a:r>
            <a:r>
              <a:rPr sz="1500" b="0" dirty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dirty="0" err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рисует</a:t>
            </a:r>
            <a:r>
              <a:rPr sz="1500" b="0" dirty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dirty="0" err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зону</a:t>
            </a:r>
            <a:r>
              <a:rPr sz="1500" b="0" dirty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dirty="0" err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поиска</a:t>
            </a:r>
            <a:r>
              <a:rPr sz="1500" b="0" dirty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dirty="0" err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на</a:t>
            </a:r>
            <a:r>
              <a:rPr sz="1500" b="0" dirty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dirty="0" err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карте</a:t>
            </a:r>
            <a:r>
              <a:rPr sz="1500" b="0" dirty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55848"/>
            <a:ext cx="2642616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1580381" y="2885032"/>
            <a:ext cx="579133" cy="31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7A9E82"/>
                </a:solidFill>
                <a:latin typeface="Calibri"/>
                <a:ea typeface="Calibri"/>
                <a:cs typeface="Calibri"/>
              </a:rPr>
              <a:t>Вход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87368"/>
            <a:ext cx="2322576" cy="359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CSV-лог / ручной ввод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2555848"/>
            <a:ext cx="2642616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4205424" y="2885032"/>
            <a:ext cx="943463" cy="31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7A9E82"/>
                </a:solidFill>
                <a:latin typeface="Calibri"/>
                <a:ea typeface="Calibri"/>
                <a:cs typeface="Calibri"/>
              </a:rPr>
              <a:t>Гипотезы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6" y="3287368"/>
            <a:ext cx="2322576" cy="359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3 сценария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555848"/>
            <a:ext cx="2642616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7127471" y="2885032"/>
            <a:ext cx="713785" cy="31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7A9E82"/>
                </a:solidFill>
                <a:latin typeface="Calibri"/>
                <a:ea typeface="Calibri"/>
                <a:cs typeface="Calibri"/>
              </a:rPr>
              <a:t>Выход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3287368"/>
            <a:ext cx="2322576" cy="359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Зона + подсказка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0264" y="2555848"/>
            <a:ext cx="2642616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9767807" y="2885032"/>
            <a:ext cx="1047530" cy="31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7A9E82"/>
                </a:solidFill>
                <a:latin typeface="Calibri"/>
                <a:ea typeface="Calibri"/>
                <a:cs typeface="Calibri"/>
              </a:rPr>
              <a:t>Уточнение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3287368"/>
            <a:ext cx="2322576" cy="359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Маяк сужает зону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21224"/>
            <a:ext cx="357835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1865315" y="4750408"/>
            <a:ext cx="945002" cy="31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7A9E82"/>
                </a:solidFill>
                <a:latin typeface="Calibri"/>
                <a:ea typeface="Calibri"/>
                <a:cs typeface="Calibri"/>
              </a:rPr>
              <a:t>Выгрузка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482" y="5152744"/>
            <a:ext cx="2466667" cy="359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JSON / KML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1584" y="4421224"/>
            <a:ext cx="357835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5715724" y="4750408"/>
            <a:ext cx="730072" cy="31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7A9E82"/>
                </a:solidFill>
                <a:latin typeface="Calibri"/>
                <a:ea typeface="Calibri"/>
                <a:cs typeface="Calibri"/>
              </a:rPr>
              <a:t>Запуск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7426" y="5152744"/>
            <a:ext cx="2466667" cy="359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ПК + браузер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34528" y="4421224"/>
            <a:ext cx="357835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9534201" y="4750408"/>
            <a:ext cx="579005" cy="31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7A9E82"/>
                </a:solidFill>
                <a:latin typeface="Calibri"/>
                <a:ea typeface="Calibri"/>
                <a:cs typeface="Calibri"/>
              </a:rPr>
              <a:t>Срок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0370" y="5152744"/>
            <a:ext cx="2466667" cy="359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6 недель</a:t>
            </a:r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D5F6D6D4-11A8-C14B-9CE9-F60B4656F3F6}"/>
              </a:ext>
            </a:extLst>
          </p:cNvPr>
          <p:cNvSpPr/>
          <p:nvPr/>
        </p:nvSpPr>
        <p:spPr>
          <a:xfrm>
            <a:off x="548640" y="274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ОПИСАНИЕ ЗАДАЧИ</a:t>
            </a:r>
            <a:endParaRPr lang="en-US" sz="1100" dirty="0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BA876554-E052-3941-AC67-DCAA694E7C2B}"/>
              </a:ext>
            </a:extLst>
          </p:cNvPr>
          <p:cNvSpPr/>
          <p:nvPr/>
        </p:nvSpPr>
        <p:spPr>
          <a:xfrm>
            <a:off x="9692640" y="2743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18</a:t>
            </a:r>
            <a:endParaRPr lang="en-US" sz="1100" dirty="0"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21C7F5C0-0773-014E-9222-B6FCA51863EF}"/>
              </a:ext>
            </a:extLst>
          </p:cNvPr>
          <p:cNvSpPr/>
          <p:nvPr/>
        </p:nvSpPr>
        <p:spPr>
          <a:xfrm>
            <a:off x="548640" y="548640"/>
            <a:ext cx="11064240" cy="12802"/>
          </a:xfrm>
          <a:prstGeom prst="rect">
            <a:avLst/>
          </a:prstGeom>
          <a:solidFill>
            <a:srgbClr val="C8C4B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6528816"/>
            <a:ext cx="7680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C6470"/>
                </a:solidFill>
                <a:latin typeface="Calibri"/>
                <a:ea typeface="Calibri"/>
                <a:cs typeface="Calibri"/>
              </a:rPr>
              <a:t>ИКСРОС  ·  БВС-Поиск  ·  РосНОУ / Якутия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6528816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C6470"/>
                </a:solidFill>
                <a:latin typeface="Calibri"/>
                <a:ea typeface="Calibri"/>
                <a:cs typeface="Calibri"/>
              </a:rPr>
              <a:t>Задача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94944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u="none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Описание задачи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2555848"/>
            <a:ext cx="73152" cy="1600200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355848" y="2555848"/>
            <a:ext cx="73152" cy="1600200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163056" y="2555848"/>
            <a:ext cx="73152" cy="1600200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970264" y="2555848"/>
            <a:ext cx="73152" cy="1600200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48640" y="4421224"/>
            <a:ext cx="73152" cy="1600200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291584" y="4421224"/>
            <a:ext cx="73152" cy="1600200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034528" y="4421224"/>
            <a:ext cx="73152" cy="1600200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ТЕХНИЧЕСКИЕ ТРЕБОВАНИЯ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0" y="2743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1064240" cy="12802"/>
          </a:xfrm>
          <a:prstGeom prst="rect">
            <a:avLst/>
          </a:prstGeom>
          <a:solidFill>
            <a:srgbClr val="C8C4B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ИКСРОС  ·  БВС-Поиск  ·  РосНОУ / Якутия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5288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9494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u="none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Чему должно соответствовать решение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1353312"/>
            <a:ext cx="54406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41248" y="179222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Полевой инструмент</a:t>
            </a:r>
            <a:endParaRPr lang="en-US" sz="1600" dirty="0"/>
          </a:p>
        </p:txBody>
      </p:sp>
      <p:sp>
        <p:nvSpPr>
          <p:cNvPr id="100" name="Desc 100"/>
          <p:cNvSpPr txBox="1"/>
          <p:nvPr/>
        </p:nvSpPr>
        <p:spPr>
          <a:xfrm>
            <a:off x="841248" y="215798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sz="14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Обычный ПК и браузер, расчёт зоны работает даже без сети</a:t>
            </a:r>
            <a:endParaRPr lang="ru-RU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1353312"/>
            <a:ext cx="54406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601968" y="1792224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вход</a:t>
            </a:r>
            <a:endParaRPr lang="en-US" sz="1600" dirty="0"/>
          </a:p>
        </p:txBody>
      </p:sp>
      <p:sp>
        <p:nvSpPr>
          <p:cNvPr id="101" name="Desc 101"/>
          <p:cNvSpPr txBox="1"/>
          <p:nvPr/>
        </p:nvSpPr>
        <p:spPr>
          <a:xfrm>
            <a:off x="6601968" y="2157984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sz="14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CSV-лог с борта или ручной ввод последней точки</a:t>
            </a:r>
            <a:endParaRPr lang="ru-RU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980944"/>
            <a:ext cx="54406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41248" y="341985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Зона, а не точка</a:t>
            </a:r>
            <a:endParaRPr lang="en-US" sz="1600" dirty="0"/>
          </a:p>
        </p:txBody>
      </p:sp>
      <p:sp>
        <p:nvSpPr>
          <p:cNvPr id="102" name="Desc 102"/>
          <p:cNvSpPr txBox="1"/>
          <p:nvPr/>
        </p:nvSpPr>
        <p:spPr>
          <a:xfrm>
            <a:off x="841248" y="378561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sz="14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сценария полёта дают район поиска и подсказку оператору</a:t>
            </a:r>
            <a:endParaRPr lang="ru-RU" sz="1400" dirty="0"/>
          </a:p>
        </p:txBody>
      </p:sp>
      <p:sp>
        <p:nvSpPr>
          <p:cNvPr id="21" name="Shape 19"/>
          <p:cNvSpPr/>
          <p:nvPr/>
        </p:nvSpPr>
        <p:spPr>
          <a:xfrm>
            <a:off x="6172200" y="2980944"/>
            <a:ext cx="54406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601968" y="3419856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Живое уточнение</a:t>
            </a:r>
            <a:endParaRPr lang="en-US" sz="1600" dirty="0"/>
          </a:p>
        </p:txBody>
      </p:sp>
      <p:sp>
        <p:nvSpPr>
          <p:cNvPr id="103" name="Desc 103"/>
          <p:cNvSpPr txBox="1"/>
          <p:nvPr/>
        </p:nvSpPr>
        <p:spPr>
          <a:xfrm>
            <a:off x="6601968" y="3785616"/>
            <a:ext cx="4873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sz="14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 маяка сужает уже посчитанную зону, а не рисует новую</a:t>
            </a:r>
            <a:endParaRPr lang="ru-RU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608576"/>
            <a:ext cx="54406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41248" y="504748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Отдача наружу</a:t>
            </a:r>
            <a:endParaRPr lang="en-US" sz="1600" dirty="0"/>
          </a:p>
        </p:txBody>
      </p:sp>
      <p:sp>
        <p:nvSpPr>
          <p:cNvPr id="104" name="Desc 104"/>
          <p:cNvSpPr txBox="1"/>
          <p:nvPr/>
        </p:nvSpPr>
        <p:spPr>
          <a:xfrm>
            <a:off x="841248" y="541324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sz="14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 сохраняется в JSON, контур зоны выгружается в KML</a:t>
            </a:r>
            <a:endParaRPr lang="ru-RU" sz="1400" dirty="0"/>
          </a:p>
        </p:txBody>
      </p:sp>
      <p:sp>
        <p:nvSpPr>
          <p:cNvPr id="29" name="Shape 27"/>
          <p:cNvSpPr/>
          <p:nvPr/>
        </p:nvSpPr>
        <p:spPr>
          <a:xfrm>
            <a:off x="6172200" y="4608576"/>
            <a:ext cx="54406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601968" y="5047488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Сдача</a:t>
            </a:r>
            <a:endParaRPr lang="en-US" sz="1600" dirty="0"/>
          </a:p>
        </p:txBody>
      </p:sp>
      <p:sp>
        <p:nvSpPr>
          <p:cNvPr id="105" name="Desc 105"/>
          <p:cNvSpPr txBox="1"/>
          <p:nvPr/>
        </p:nvSpPr>
        <p:spPr>
          <a:xfrm>
            <a:off x="6601968" y="5413248"/>
            <a:ext cx="4873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sz="14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6 недель: приложение, веб-макет, учебный лог и инструкция</a:t>
            </a:r>
            <a:endParaRPr lang="ru-RU" sz="1400" dirty="0"/>
          </a:p>
        </p:txBody>
      </p:sp>
      <p:sp>
        <p:nvSpPr>
          <p:cNvPr id="32" name="Rectangle 31"/>
          <p:cNvSpPr/>
          <p:nvPr/>
        </p:nvSpPr>
        <p:spPr>
          <a:xfrm>
            <a:off x="548640" y="1353312"/>
            <a:ext cx="73152" cy="1481328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72200" y="1353312"/>
            <a:ext cx="73152" cy="1481328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8640" y="2980944"/>
            <a:ext cx="73152" cy="1481328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72200" y="2980944"/>
            <a:ext cx="73152" cy="1481328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48640" y="4608576"/>
            <a:ext cx="73152" cy="1481328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72200" y="4608576"/>
            <a:ext cx="73152" cy="1481328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СРЕДСТВА И МАТЕРИАЛЫ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0" y="2743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1064240" cy="12802"/>
          </a:xfrm>
          <a:prstGeom prst="rect">
            <a:avLst/>
          </a:prstGeom>
          <a:solidFill>
            <a:srgbClr val="C8C4B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ИКСРОС  ·  БВС-Поиск  ·  РосНОУ / Якутия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5288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9494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u="none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Технологии, оборудование, расходники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1355743"/>
            <a:ext cx="5669280" cy="50292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86384" y="15087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Программный стек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" y="207568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6384" y="267919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/ ttk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6384" y="328269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tkintermapview + OSM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6384" y="388620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json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6384" y="448970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Гаверсинус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86384" y="509320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(веб-макет)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86384" y="569671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pytest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46520" y="1353312"/>
            <a:ext cx="5166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702552" y="16459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 и инструменты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46520" y="2478024"/>
            <a:ext cx="5166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702552" y="277063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Расходные материалы</a:t>
            </a:r>
            <a:endParaRPr lang="en-US" sz="1600" dirty="0"/>
          </a:p>
        </p:txBody>
      </p:sp>
      <p:sp>
        <p:nvSpPr>
          <p:cNvPr id="30" name="Rectangle 29"/>
          <p:cNvSpPr/>
          <p:nvPr/>
        </p:nvSpPr>
        <p:spPr>
          <a:xfrm>
            <a:off x="6446520" y="1353312"/>
            <a:ext cx="73152" cy="960120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46520" y="2478024"/>
            <a:ext cx="73152" cy="960120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ФРАГМЕНТ КОДА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0" y="2743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1064240" cy="12802"/>
          </a:xfrm>
          <a:prstGeom prst="rect">
            <a:avLst/>
          </a:prstGeom>
          <a:solidFill>
            <a:srgbClr val="C8C4B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ИКСРОС  ·  БВС-Поиск  ·  РосНОУ / Якутия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5288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9494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u="none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Ядро: три гипотезы и сжатие зоны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1353312"/>
            <a:ext cx="6903720" cy="338328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txBody>
          <a:bodyPr wrap="square" anchor="t"/>
          <a:lstStyle/>
          <a:p>
            <a:endParaRPr/>
          </a:p>
        </p:txBody>
      </p:sp>
      <p:pic>
        <p:nvPicPr>
          <p:cNvPr id="10" name="Image 0" descr="/home/workdir/artifacts/pptx_assets/code_cro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1525" y="1481328"/>
            <a:ext cx="6597950" cy="31272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635240" y="1353312"/>
            <a:ext cx="3977640" cy="338328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7845552" y="153619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 фрагмент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845552" y="1975104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гипотезы считаются отдельно.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 зоны — среднее трёх точек.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Маяк смещает центр и сужает овал.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Файл: bvs_poisk.py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49011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сигнал уточняет уже посчитанный район и не рисует вторую картинку — так закрыто требование заказчика на уточнение.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ОПИСАНИЕ РЕШЕНИЯ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0" y="2743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1064240" cy="12802"/>
          </a:xfrm>
          <a:prstGeom prst="rect">
            <a:avLst/>
          </a:prstGeom>
          <a:solidFill>
            <a:srgbClr val="C8C4B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ИКСРОС  ·  БВС-Поиск  ·  РосНОУ / Якутия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5288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9494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u="none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устроено внутри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115214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открывает лог или вводит последнюю точку. Парсер приводит данные к одной таблице. Ядро считает три продолжения полёта. Маяк сжимает район. Результат уходит на карту, в текст и в KML.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1847088"/>
            <a:ext cx="2103120" cy="2212848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48640" y="19751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Поля, кнопки,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меню, карта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88920" y="1847088"/>
            <a:ext cx="2103120" cy="2212848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852928" y="197510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44368" y="228600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Парсер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944368" y="274320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 → единая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точек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1847088"/>
            <a:ext cx="2103120" cy="2212848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157216" y="1975104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48656" y="2286000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48656" y="2743200"/>
            <a:ext cx="1746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гипотезы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эллипс зоны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269480" y="1847088"/>
            <a:ext cx="2103120" cy="2212848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461504" y="197510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52944" y="2286000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52944" y="274320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/ схема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окне программы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509760" y="1847088"/>
            <a:ext cx="2103120" cy="2212848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765792" y="1975104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57232" y="2286000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857232" y="2743200"/>
            <a:ext cx="1618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JSON-случай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выгрузка KML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261104"/>
            <a:ext cx="11064240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768096" y="44256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расчёта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8096" y="4773168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гипотезы: падение сразу, уход по курсу, возврат домой. Центр — среднее, зона шире, если данных мало. Смещение по курсу и ветру переводим в координаты через гаверсинус. Уверенность высокая / средняя / низкая зависит от ветра и маяка.</a:t>
            </a:r>
            <a:endParaRPr lang="en-US" sz="1400" dirty="0"/>
          </a:p>
        </p:txBody>
      </p:sp>
      <p:sp>
        <p:nvSpPr>
          <p:cNvPr id="33" name="Rectangle 32"/>
          <p:cNvSpPr/>
          <p:nvPr/>
        </p:nvSpPr>
        <p:spPr>
          <a:xfrm>
            <a:off x="548640" y="4261104"/>
            <a:ext cx="73152" cy="1975104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СКРИНШОТ РЕШЕНИЯ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0" y="2743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1064240" cy="12802"/>
          </a:xfrm>
          <a:prstGeom prst="rect">
            <a:avLst/>
          </a:prstGeom>
          <a:solidFill>
            <a:srgbClr val="C8C4B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ИКСРОС  ·  БВС-Поиск  ·  РосНОУ / Якутия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5288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9494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u="none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оператора</a:t>
            </a:r>
            <a:endParaRPr lang="en-US" sz="2600" dirty="0"/>
          </a:p>
        </p:txBody>
      </p:sp>
      <p:pic>
        <p:nvPicPr>
          <p:cNvPr id="9" name="Image 0" descr="/home/workdir/artifacts/pptx_assets/u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353312"/>
            <a:ext cx="7955280" cy="5029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41080" y="1353312"/>
            <a:ext cx="2971800" cy="50292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8851392" y="15544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экране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851392" y="2011680"/>
            <a:ext cx="2606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 — данные потери, дом и маяк.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— последняя точка и овал на OSM.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Справа — уверенность, подсказка, три гипотезы, сохранение и KML.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РЕЗУЛЬТАТЫ ИСПЫТАНИЙ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0" y="2743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1064240" cy="12802"/>
          </a:xfrm>
          <a:prstGeom prst="rect">
            <a:avLst/>
          </a:prstGeom>
          <a:solidFill>
            <a:srgbClr val="C8C4B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ИКСРОС  ·  БВС-Поиск  ·  РосНОУ / Якутия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5288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Испытания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9494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u="none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1. Разбор лога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1353312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49808" y="14447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и место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144475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октября</a:t>
            </a: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2026, </a:t>
            </a:r>
            <a:r>
              <a:rPr lang="ru-RU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Архитектурно-этнографический комплекс </a:t>
            </a:r>
            <a:r>
              <a:rPr lang="ru-RU" sz="1400" dirty="0" err="1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Ысыах</a:t>
            </a:r>
            <a:r>
              <a:rPr lang="ru-RU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dirty="0" err="1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Туймаады</a:t>
            </a: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Якутск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157984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49808" y="224942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2249424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parse_log, учебный </a:t>
            </a:r>
            <a:r>
              <a:rPr lang="en-US" sz="1400" dirty="0" err="1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</a:t>
            </a: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dirty="0" err="1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</a:t>
            </a:r>
            <a:r>
              <a:rPr lang="en-US" sz="1400" dirty="0" err="1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iflightlog.csv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962656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49808" y="305409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3054096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Проверить, что из CSV берётся последняя валидная точка: широта, долгота, высота, курс, скорость, заряд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767328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49808" y="38587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Методика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17520" y="38587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лог из окна программы. Сравнить поля формы с последней строкой файла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49808" y="4663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17520" y="4663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Обычный ПК, Python 3.10+, без сети. Файл из 10 строк телеметрии около Якутска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376672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49808" y="54681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017520" y="546811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поля заполнены из последней строки. Расчёт зоны запускается автоматически. Замечаний нет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РЕЗУЛЬТАТЫ ИСПЫТАНИЙ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0" y="2743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1064240" cy="12802"/>
          </a:xfrm>
          <a:prstGeom prst="rect">
            <a:avLst/>
          </a:prstGeom>
          <a:solidFill>
            <a:srgbClr val="C8C4B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ИКСРОС  ·  БВС-Поиск  ·  РосНОУ / Якутия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5288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Испытания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9494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u="none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2. Зона, маяк, выгрузка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977420"/>
              </p:ext>
            </p:extLst>
          </p:nvPr>
        </p:nvGraphicFramePr>
        <p:xfrm>
          <a:off x="548640" y="1353312"/>
          <a:ext cx="11064240" cy="21691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Проверка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Условие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Результат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Расчёт «потеря связи»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9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Координаты</a:t>
                      </a: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62.0355, 129.6755; ветер 5 м/с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9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Зона построена, </a:t>
                      </a:r>
                      <a:r>
                        <a:rPr lang="en-US" sz="1200" b="0" dirty="0" err="1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уверенность</a:t>
                      </a: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средняя</a:t>
                      </a:r>
                      <a:r>
                        <a:rPr lang="ru-RU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Три гипотезы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Сравнить смещения fall / course / home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Три разных овала, общий </a:t>
                      </a:r>
                      <a:r>
                        <a:rPr lang="en-US" sz="1200" b="0" dirty="0" err="1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центр</a:t>
                      </a: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смещён</a:t>
                      </a:r>
                      <a:r>
                        <a:rPr lang="ru-RU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Отказ двигателя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9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Тот </a:t>
                      </a:r>
                      <a:r>
                        <a:rPr lang="en-US" sz="1200" b="0" dirty="0" err="1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же</a:t>
                      </a: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ввод</a:t>
                      </a:r>
                      <a:r>
                        <a:rPr lang="ru-RU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координат</a:t>
                      </a: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200" b="0" dirty="0" err="1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смена</a:t>
                      </a: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причины</a:t>
                      </a:r>
                      <a:r>
                        <a:rPr lang="ru-RU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на отказ двигателя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9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Зона ближе к </a:t>
                      </a:r>
                      <a:r>
                        <a:rPr lang="en-US" sz="1200" b="0" dirty="0" err="1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последней</a:t>
                      </a: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точке</a:t>
                      </a:r>
                      <a:r>
                        <a:rPr lang="ru-RU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Маяк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Добавлены координаты сигнала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Район сжался, </a:t>
                      </a:r>
                      <a:r>
                        <a:rPr lang="en-US" sz="1200" b="0" dirty="0" err="1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уверенность</a:t>
                      </a: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</a:t>
                      </a:r>
                      <a:r>
                        <a:rPr lang="ru-RU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Выгрузка KML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9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Сохранить zona_poiska.kml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9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Файл открывается, контур и две точки </a:t>
                      </a:r>
                      <a:r>
                        <a:rPr lang="en-US" sz="1200" b="0" dirty="0" err="1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</a:t>
                      </a: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месте</a:t>
                      </a:r>
                      <a:r>
                        <a:rPr lang="ru-RU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Ошибки ввода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Широта 200, заряд −10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Сообщение об ошибке, </a:t>
                      </a:r>
                      <a:r>
                        <a:rPr lang="en-US" sz="1200" b="0" dirty="0" err="1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расчёта</a:t>
                      </a: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r>
                        <a:rPr lang="ru-RU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613562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Дата: 16 </a:t>
            </a:r>
            <a:r>
              <a:rPr lang="en-US" sz="1300" dirty="0" err="1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</a:t>
            </a:r>
            <a:r>
              <a:rPr lang="ru-RU" sz="1300" dirty="0" err="1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ктября</a:t>
            </a: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2026. Место: те же рабочие места команды. Объект: bvs_poisk.py и веб-макет index.html.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СРАВНЕНИЕ С ТРЕБОВАНИЯМИ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0" y="2743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1064240" cy="12802"/>
          </a:xfrm>
          <a:prstGeom prst="rect">
            <a:avLst/>
          </a:prstGeom>
          <a:solidFill>
            <a:srgbClr val="C8C4B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ИКСРОС  ·  БВС-Поиск  ·  РосНОУ / Якутия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5288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9494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600" b="1" u="none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решения требованиям заказчика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53312"/>
          <a:ext cx="11064240" cy="24790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Требование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Факт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Статус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Настольное ПО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9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Окно Python + веб-макет с тем же ядром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9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Соответствует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Разбор лога и ручной ввод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CSV-парсер и поля формы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Соответствует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Зона на карте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9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Эллипс, маркеры, подсказка оператору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9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Соответствует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Маяк сужает район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Пересчёт центра и ширины овала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Соответствует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Сохранение и KML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9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JSON-случай и выгрузка KML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9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Соответствует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Офлайн-расчёт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Счётчик не зависит от сайта; карта OSM — при наличии сети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Частично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PySide6 + pandas в концепции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9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Реализовано на Tkinter; pandas не обязателен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9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Отклонение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" y="10633"/>
            <a:ext cx="12192000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ЭКОНОМИЧЕСКАЯ ЭФФЕКТИВНОСТЬ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0" y="2743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1064240" cy="12802"/>
          </a:xfrm>
          <a:prstGeom prst="rect">
            <a:avLst/>
          </a:prstGeom>
          <a:solidFill>
            <a:srgbClr val="C8C4B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ИКСРОС  ·  БВС-Поиск  ·  РосНОУ / Якутия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5288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Затраты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9494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u="none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Фактические затраты на разработку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1353312"/>
            <a:ext cx="5440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04672" y="14630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u="none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Труд команды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672" y="17647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Расчетная стоимость разработки составляет в среднем ~ 40000 рублей. (102 рабочих часа, суммарная трудоемкость разработки * 400 рублей</a:t>
            </a: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расчетная стоимость одного часа разработки)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1353312"/>
            <a:ext cx="5440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28232" y="15544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u="none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Лицензии ПО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28232" y="184708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0" u="none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₽. Python, Tkinter, OSM, Git, pytest — свободное ПО.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633472"/>
            <a:ext cx="11064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04672" y="279806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</a:t>
            </a:r>
            <a:endParaRPr lang="en-US" sz="1600" dirty="0"/>
          </a:p>
        </p:txBody>
      </p:sp>
      <p:sp>
        <p:nvSpPr>
          <p:cNvPr id="25" name="TextBox 24"/>
          <p:cNvSpPr txBox="1"/>
          <p:nvPr/>
        </p:nvSpPr>
        <p:spPr>
          <a:xfrm>
            <a:off x="804672" y="3182112"/>
            <a:ext cx="507492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0">
                <a:solidFill>
                  <a:srgbClr val="5C6470"/>
                </a:solidFill>
                <a:latin typeface="Calibri"/>
                <a:ea typeface="Calibri"/>
                <a:cs typeface="Calibri"/>
              </a:rPr>
              <a:t>Процессор: от 2 ядер, x86-64 или Apple Silicon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0">
                <a:solidFill>
                  <a:srgbClr val="5C6470"/>
                </a:solidFill>
                <a:latin typeface="Calibri"/>
                <a:ea typeface="Calibri"/>
                <a:cs typeface="Calibri"/>
              </a:rPr>
              <a:t>Оперативная память: от 4 ГБ, рекомендуется 8 ГБ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0">
                <a:solidFill>
                  <a:srgbClr val="5C6470"/>
                </a:solidFill>
                <a:latin typeface="Calibri"/>
                <a:ea typeface="Calibri"/>
                <a:cs typeface="Calibri"/>
              </a:rPr>
              <a:t>Диск: от 500 МБ свободного места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3912" y="3182112"/>
            <a:ext cx="507492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0">
                <a:solidFill>
                  <a:srgbClr val="5C6470"/>
                </a:solidFill>
                <a:latin typeface="Calibri"/>
                <a:ea typeface="Calibri"/>
                <a:cs typeface="Calibri"/>
              </a:rPr>
              <a:t>Экран: от 1366×768, рекомендуется 1920×1080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0">
                <a:solidFill>
                  <a:srgbClr val="5C6470"/>
                </a:solidFill>
                <a:latin typeface="Calibri"/>
                <a:ea typeface="Calibri"/>
                <a:cs typeface="Calibri"/>
              </a:rPr>
              <a:t>ОС: Windows 10/11, macOS 12+ или Linux; Python 3.10+ с Tkinter, современный браузер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0">
                <a:solidFill>
                  <a:srgbClr val="5C6470"/>
                </a:solidFill>
                <a:latin typeface="Calibri"/>
                <a:ea typeface="Calibri"/>
                <a:cs typeface="Calibri"/>
              </a:rPr>
              <a:t>Интернет нужен только для карты OSM, расчёт зоны работает без сети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633472"/>
            <a:ext cx="73152" cy="2331720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1353312"/>
            <a:ext cx="73152" cy="1097280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72200" y="1353312"/>
            <a:ext cx="73152" cy="1097280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548640" y="1353312"/>
            <a:ext cx="2768215" cy="420624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640080" y="1426464"/>
            <a:ext cx="2585335" cy="31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Этап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6855" y="1353312"/>
            <a:ext cx="2009327" cy="420624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3408295" y="1426464"/>
            <a:ext cx="1826447" cy="31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Срок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26184" y="1353312"/>
            <a:ext cx="3518480" cy="420624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5417624" y="1426464"/>
            <a:ext cx="3335599" cy="31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Результат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44664" y="1353312"/>
            <a:ext cx="2768215" cy="420624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8936104" y="1426464"/>
            <a:ext cx="2585335" cy="31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Ответственные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773936"/>
            <a:ext cx="2768215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640080" y="1956816"/>
            <a:ext cx="2585335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1. Постановка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6855" y="1773936"/>
            <a:ext cx="2009327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3408295" y="1956816"/>
            <a:ext cx="1826447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Неделя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26184" y="1773936"/>
            <a:ext cx="351848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5417624" y="1956816"/>
            <a:ext cx="3335599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Задача, роли, гипотеза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44664" y="1773936"/>
            <a:ext cx="2768215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8936104" y="1956816"/>
            <a:ext cx="2585335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Вся команда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468880"/>
            <a:ext cx="2768215" cy="694944"/>
          </a:xfrm>
          <a:prstGeom prst="rect">
            <a:avLst/>
          </a:prstGeom>
          <a:solidFill>
            <a:srgbClr val="EBE9E3"/>
          </a:solidFill>
          <a:ln w="9525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640080" y="2651760"/>
            <a:ext cx="2585335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2. Парсер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16855" y="2468880"/>
            <a:ext cx="2009327" cy="694944"/>
          </a:xfrm>
          <a:prstGeom prst="rect">
            <a:avLst/>
          </a:prstGeom>
          <a:solidFill>
            <a:srgbClr val="EBE9E3"/>
          </a:solidFill>
          <a:ln w="9525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3408295" y="2651760"/>
            <a:ext cx="1826447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Неделя 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26184" y="2468880"/>
            <a:ext cx="3518480" cy="694944"/>
          </a:xfrm>
          <a:prstGeom prst="rect">
            <a:avLst/>
          </a:prstGeom>
          <a:solidFill>
            <a:srgbClr val="EBE9E3"/>
          </a:solidFill>
          <a:ln w="9525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5417624" y="2651760"/>
            <a:ext cx="3335599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CSV → точка/курс/заряд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44664" y="2468880"/>
            <a:ext cx="2768215" cy="694944"/>
          </a:xfrm>
          <a:prstGeom prst="rect">
            <a:avLst/>
          </a:prstGeom>
          <a:solidFill>
            <a:srgbClr val="EBE9E3"/>
          </a:solidFill>
          <a:ln w="9525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8936104" y="2651760"/>
            <a:ext cx="2585335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Айсиэн, Саина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163824"/>
            <a:ext cx="2768215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TextBox 31"/>
          <p:cNvSpPr txBox="1"/>
          <p:nvPr/>
        </p:nvSpPr>
        <p:spPr>
          <a:xfrm>
            <a:off x="640080" y="3346704"/>
            <a:ext cx="2585335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3. Ядро зоны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16855" y="3163824"/>
            <a:ext cx="2009327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TextBox 33"/>
          <p:cNvSpPr txBox="1"/>
          <p:nvPr/>
        </p:nvSpPr>
        <p:spPr>
          <a:xfrm>
            <a:off x="3408295" y="3346704"/>
            <a:ext cx="1826447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Неделя 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26184" y="3163824"/>
            <a:ext cx="351848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TextBox 35"/>
          <p:cNvSpPr txBox="1"/>
          <p:nvPr/>
        </p:nvSpPr>
        <p:spPr>
          <a:xfrm>
            <a:off x="5417624" y="3346704"/>
            <a:ext cx="3335599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3 гипотезы + овал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44664" y="3163824"/>
            <a:ext cx="2768215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TextBox 37"/>
          <p:cNvSpPr txBox="1"/>
          <p:nvPr/>
        </p:nvSpPr>
        <p:spPr>
          <a:xfrm>
            <a:off x="8936104" y="3346704"/>
            <a:ext cx="2585335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Айсиэн, Григорий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858768"/>
            <a:ext cx="2768215" cy="694944"/>
          </a:xfrm>
          <a:prstGeom prst="rect">
            <a:avLst/>
          </a:prstGeom>
          <a:solidFill>
            <a:srgbClr val="EBE9E3"/>
          </a:solidFill>
          <a:ln w="9525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0" name="TextBox 39"/>
          <p:cNvSpPr txBox="1"/>
          <p:nvPr/>
        </p:nvSpPr>
        <p:spPr>
          <a:xfrm>
            <a:off x="640080" y="4041648"/>
            <a:ext cx="2585335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4. Интерфейс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16855" y="3858768"/>
            <a:ext cx="2009327" cy="694944"/>
          </a:xfrm>
          <a:prstGeom prst="rect">
            <a:avLst/>
          </a:prstGeom>
          <a:solidFill>
            <a:srgbClr val="EBE9E3"/>
          </a:solidFill>
          <a:ln w="9525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2" name="TextBox 41"/>
          <p:cNvSpPr txBox="1"/>
          <p:nvPr/>
        </p:nvSpPr>
        <p:spPr>
          <a:xfrm>
            <a:off x="3408295" y="4041648"/>
            <a:ext cx="1826447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Неделя 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26184" y="3858768"/>
            <a:ext cx="3518480" cy="694944"/>
          </a:xfrm>
          <a:prstGeom prst="rect">
            <a:avLst/>
          </a:prstGeom>
          <a:solidFill>
            <a:srgbClr val="EBE9E3"/>
          </a:solidFill>
          <a:ln w="9525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4" name="TextBox 43"/>
          <p:cNvSpPr txBox="1"/>
          <p:nvPr/>
        </p:nvSpPr>
        <p:spPr>
          <a:xfrm>
            <a:off x="5417624" y="4041648"/>
            <a:ext cx="3335599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Окно + карта + UX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44664" y="3858768"/>
            <a:ext cx="2768215" cy="694944"/>
          </a:xfrm>
          <a:prstGeom prst="rect">
            <a:avLst/>
          </a:prstGeom>
          <a:solidFill>
            <a:srgbClr val="EBE9E3"/>
          </a:solidFill>
          <a:ln w="9525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6" name="TextBox 45"/>
          <p:cNvSpPr txBox="1"/>
          <p:nvPr/>
        </p:nvSpPr>
        <p:spPr>
          <a:xfrm>
            <a:off x="8936104" y="4041648"/>
            <a:ext cx="2585335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Григорий, Георгина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553712"/>
            <a:ext cx="2768215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8" name="TextBox 47"/>
          <p:cNvSpPr txBox="1"/>
          <p:nvPr/>
        </p:nvSpPr>
        <p:spPr>
          <a:xfrm>
            <a:off x="640080" y="4736592"/>
            <a:ext cx="2585335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5. Уточнение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16855" y="4553712"/>
            <a:ext cx="2009327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0" name="TextBox 49"/>
          <p:cNvSpPr txBox="1"/>
          <p:nvPr/>
        </p:nvSpPr>
        <p:spPr>
          <a:xfrm>
            <a:off x="3408295" y="4736592"/>
            <a:ext cx="1826447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Неделя 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26184" y="4553712"/>
            <a:ext cx="351848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2" name="TextBox 51"/>
          <p:cNvSpPr txBox="1"/>
          <p:nvPr/>
        </p:nvSpPr>
        <p:spPr>
          <a:xfrm>
            <a:off x="5417624" y="4736592"/>
            <a:ext cx="3335599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Маяк, JSON, KML, тесты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44664" y="4553712"/>
            <a:ext cx="2768215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4" name="TextBox 53"/>
          <p:cNvSpPr txBox="1"/>
          <p:nvPr/>
        </p:nvSpPr>
        <p:spPr>
          <a:xfrm>
            <a:off x="8936104" y="4736592"/>
            <a:ext cx="2585335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Айгыына, Айсиэн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248656"/>
            <a:ext cx="2768215" cy="694944"/>
          </a:xfrm>
          <a:prstGeom prst="rect">
            <a:avLst/>
          </a:prstGeom>
          <a:solidFill>
            <a:srgbClr val="EBE9E3"/>
          </a:solidFill>
          <a:ln w="9525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6" name="TextBox 55"/>
          <p:cNvSpPr txBox="1"/>
          <p:nvPr/>
        </p:nvSpPr>
        <p:spPr>
          <a:xfrm>
            <a:off x="640080" y="5431536"/>
            <a:ext cx="2585335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6. Сдача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16855" y="5248656"/>
            <a:ext cx="2009327" cy="694944"/>
          </a:xfrm>
          <a:prstGeom prst="rect">
            <a:avLst/>
          </a:prstGeom>
          <a:solidFill>
            <a:srgbClr val="EBE9E3"/>
          </a:solidFill>
          <a:ln w="9525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8" name="TextBox 57"/>
          <p:cNvSpPr txBox="1"/>
          <p:nvPr/>
        </p:nvSpPr>
        <p:spPr>
          <a:xfrm>
            <a:off x="3408295" y="5431536"/>
            <a:ext cx="1826447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Неделя 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26184" y="5248656"/>
            <a:ext cx="3518480" cy="694944"/>
          </a:xfrm>
          <a:prstGeom prst="rect">
            <a:avLst/>
          </a:prstGeom>
          <a:solidFill>
            <a:srgbClr val="EBE9E3"/>
          </a:solidFill>
          <a:ln w="9525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0" name="TextBox 59"/>
          <p:cNvSpPr txBox="1"/>
          <p:nvPr/>
        </p:nvSpPr>
        <p:spPr>
          <a:xfrm>
            <a:off x="5417624" y="5431536"/>
            <a:ext cx="3335599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Веб-версия, репозиторий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44664" y="5248656"/>
            <a:ext cx="2768215" cy="694944"/>
          </a:xfrm>
          <a:prstGeom prst="rect">
            <a:avLst/>
          </a:prstGeom>
          <a:solidFill>
            <a:srgbClr val="EBE9E3"/>
          </a:solidFill>
          <a:ln w="9525">
            <a:solidFill>
              <a:srgbClr val="C8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2" name="TextBox 61"/>
          <p:cNvSpPr txBox="1"/>
          <p:nvPr/>
        </p:nvSpPr>
        <p:spPr>
          <a:xfrm>
            <a:off x="8936104" y="5431536"/>
            <a:ext cx="2585335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Вся команда</a:t>
            </a:r>
          </a:p>
        </p:txBody>
      </p:sp>
      <p:sp>
        <p:nvSpPr>
          <p:cNvPr id="66" name="Text 1">
            <a:extLst>
              <a:ext uri="{FF2B5EF4-FFF2-40B4-BE49-F238E27FC236}">
                <a16:creationId xmlns:a16="http://schemas.microsoft.com/office/drawing/2014/main" id="{B8BD3F31-E46D-C942-B4B0-270D1492AC1E}"/>
              </a:ext>
            </a:extLst>
          </p:cNvPr>
          <p:cNvSpPr/>
          <p:nvPr/>
        </p:nvSpPr>
        <p:spPr>
          <a:xfrm>
            <a:off x="548640" y="274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РАБОТА КОМАНДЫ</a:t>
            </a:r>
            <a:endParaRPr lang="en-US" sz="1100" dirty="0"/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90848654-920B-AD49-9C93-8D3714A44ADF}"/>
              </a:ext>
            </a:extLst>
          </p:cNvPr>
          <p:cNvSpPr/>
          <p:nvPr/>
        </p:nvSpPr>
        <p:spPr>
          <a:xfrm>
            <a:off x="9692640" y="2743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100" dirty="0"/>
          </a:p>
        </p:txBody>
      </p:sp>
      <p:sp>
        <p:nvSpPr>
          <p:cNvPr id="68" name="Shape 3">
            <a:extLst>
              <a:ext uri="{FF2B5EF4-FFF2-40B4-BE49-F238E27FC236}">
                <a16:creationId xmlns:a16="http://schemas.microsoft.com/office/drawing/2014/main" id="{77FEFD8E-F31B-294A-B451-0B3523806914}"/>
              </a:ext>
            </a:extLst>
          </p:cNvPr>
          <p:cNvSpPr/>
          <p:nvPr/>
        </p:nvSpPr>
        <p:spPr>
          <a:xfrm>
            <a:off x="548640" y="548640"/>
            <a:ext cx="11064240" cy="12802"/>
          </a:xfrm>
          <a:prstGeom prst="rect">
            <a:avLst/>
          </a:prstGeom>
          <a:solidFill>
            <a:srgbClr val="C8C4B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48640" y="6528816"/>
            <a:ext cx="7680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C6470"/>
                </a:solidFill>
                <a:latin typeface="Calibri"/>
                <a:ea typeface="Calibri"/>
                <a:cs typeface="Calibri"/>
              </a:rPr>
              <a:t>ИКСРОС  ·  БВС-Поиск  ·  РосНОУ / Якутия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0" y="6528816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C6470"/>
                </a:solidFill>
                <a:latin typeface="Calibri"/>
                <a:ea typeface="Calibri"/>
                <a:cs typeface="Calibri"/>
              </a:rPr>
              <a:t>Работа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8640" y="694944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u="none">
                <a:solidFill>
                  <a:srgbClr val="16263D"/>
                </a:solidFill>
                <a:latin typeface="Calibri"/>
                <a:ea typeface="Calibri"/>
                <a:cs typeface="Calibri"/>
              </a:rPr>
              <a:t>Работа команды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РЕФЛЕКСИЯ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0" y="2743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1064240" cy="12802"/>
          </a:xfrm>
          <a:prstGeom prst="rect">
            <a:avLst/>
          </a:prstGeom>
          <a:solidFill>
            <a:srgbClr val="C8C4B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ИКСРОС  ·  БВС-Поиск  ·  РосНОУ / Якутия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5288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9494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u="none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не закрыли и куда идти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1353312"/>
            <a:ext cx="3566160" cy="4937760"/>
          </a:xfrm>
          <a:prstGeom prst="rect">
            <a:avLst/>
          </a:prstGeom>
          <a:solidFill>
            <a:srgbClr val="0F1B2D"/>
          </a:solidFill>
          <a:ln w="12700">
            <a:noFill/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68096" y="15361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удалось решить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8096" y="212140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пакета реальных бортовых логов разных производителей.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0" y="1353312"/>
            <a:ext cx="35661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62856" y="15361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Пути доработки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62856" y="212140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Отдельные профили «коптер / крыло».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62856" y="308152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Ветер с метеостанции по координате обрыва.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62856" y="404164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Установщик Windows и офлайн-тайлы карты.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62856" y="500176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Тесты на кривых и оборванных логах.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0" y="1353312"/>
            <a:ext cx="35661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357616" y="1536192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05800" y="2176272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Связка с LoRa-маяком как уточнение, не замена.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05800" y="3136392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Выгрузка района сразу в навигатор телефона.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05800" y="4096512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сохранённых случаев по региону.</a:t>
            </a:r>
            <a:endParaRPr lang="en-US" sz="1400" dirty="0"/>
          </a:p>
        </p:txBody>
      </p:sp>
      <p:sp>
        <p:nvSpPr>
          <p:cNvPr id="27" name="Rectangle 26"/>
          <p:cNvSpPr/>
          <p:nvPr/>
        </p:nvSpPr>
        <p:spPr>
          <a:xfrm>
            <a:off x="4297680" y="1353312"/>
            <a:ext cx="73152" cy="4937760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46720" y="1353312"/>
            <a:ext cx="73152" cy="4937760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ТЕХНИЧЕСКАЯ ДОКУМЕНТАЦИЯ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0" y="2743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1064240" cy="12802"/>
          </a:xfrm>
          <a:prstGeom prst="rect">
            <a:avLst/>
          </a:prstGeom>
          <a:solidFill>
            <a:srgbClr val="C8C4B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ИКСРОС  ·  БВС-Поиск  ·  РосНОУ / Якутия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5288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9494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u="none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отдаём вместе с программой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1353312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 wrap="square" anchor="t"/>
          <a:lstStyle/>
          <a:p>
            <a:endParaRPr lang="ru-RU" dirty="0"/>
          </a:p>
        </p:txBody>
      </p:sp>
      <p:sp>
        <p:nvSpPr>
          <p:cNvPr id="10" name="Text 8"/>
          <p:cNvSpPr/>
          <p:nvPr/>
        </p:nvSpPr>
        <p:spPr>
          <a:xfrm>
            <a:off x="768096" y="16093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97680" y="1353312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562856" y="16093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bvs_poisk.py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62856" y="2176272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Настольное приложение: парсер, ядро, окно, KML, JSON.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1353312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357616" y="1609344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57616" y="2176272"/>
            <a:ext cx="3118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Веб-макет того же расчёта и карты Leaflet.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822192"/>
            <a:ext cx="3611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68096" y="407822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sample_flight.csv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8096" y="4645152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Учебный лог для проверки парсера.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43400" y="3822192"/>
            <a:ext cx="3611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4B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562856" y="407822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Инструкция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62856" y="4645152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одной командой: python bvs_poisk.py или открыть HTML.</a:t>
            </a:r>
            <a:endParaRPr lang="en-US" sz="14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966B46-655D-CA46-884F-760144311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408" y="2026915"/>
            <a:ext cx="1489776" cy="148743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48640" y="1353312"/>
            <a:ext cx="73152" cy="2286000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97680" y="1353312"/>
            <a:ext cx="73152" cy="2286000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6720" y="1353312"/>
            <a:ext cx="73152" cy="2286000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3822192"/>
            <a:ext cx="73152" cy="2286000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43400" y="3822192"/>
            <a:ext cx="73152" cy="2286000"/>
          </a:xfrm>
          <a:prstGeom prst="rect">
            <a:avLst/>
          </a:prstGeom>
          <a:solidFill>
            <a:srgbClr val="7A9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КОНТАКТЫ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0" y="2743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1064240" cy="12802"/>
          </a:xfrm>
          <a:prstGeom prst="rect">
            <a:avLst/>
          </a:prstGeom>
          <a:solidFill>
            <a:srgbClr val="C8C4B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ИКСРОС  ·  БВС-Поиск  ·  РосНОУ / Якутия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5288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9494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u="none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связаться с командой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1353312"/>
            <a:ext cx="11064240" cy="484632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171907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Представитель команды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08483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Алексеев</a:t>
            </a:r>
            <a:r>
              <a:rPr lang="en-US" sz="26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Игорь</a:t>
            </a:r>
            <a:r>
              <a:rPr lang="ru-RU" sz="26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Юрьевич</a:t>
            </a:r>
            <a:r>
              <a:rPr lang="en-US" sz="26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капитан ИКСРОС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14400" y="2724912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Наставник — Растягаев Дмитрий Владимирович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Российский новый университет  ·  колледж инфраструктурных технологий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Республика Саха (Якутия)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096512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E-mail: </a:t>
            </a:r>
            <a:r>
              <a:rPr lang="en-US" sz="16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vivantoumort0@yandex.ru</a:t>
            </a:r>
            <a:r>
              <a:rPr lang="en-US" sz="16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ru-RU" sz="1600" dirty="0">
              <a:solidFill>
                <a:srgbClr val="F4EFE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ru-RU" sz="1600" dirty="0">
                <a:solidFill>
                  <a:srgbClr val="F4EFE6"/>
                </a:solidFill>
                <a:latin typeface="Calibri" pitchFamily="34" charset="0"/>
                <a:cs typeface="Calibri" pitchFamily="34" charset="-120"/>
              </a:rPr>
              <a:t>Телефон: +79931807579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txBody>
          <a:bodyPr wrap="square" anchor="t"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Последняя строка лога — не место утери.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9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старт расчёта.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ИКСРОС  ·  БВС-Поиск  ·  РосНОУ / Якутия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11532</TotalTime>
  <Words>1494</Words>
  <Application>Microsoft Macintosh PowerPoint</Application>
  <PresentationFormat>Широкоэкранный</PresentationFormat>
  <Paragraphs>333</Paragraphs>
  <Slides>18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БВС-Поиск — презентация инженерной задачи</dc:title>
  <dc:subject>Система поиска предположительного места утери БВС</dc:subject>
  <dc:creator>Команда ИКСРОС</dc:creator>
  <cp:lastModifiedBy>Microsoft Office User</cp:lastModifiedBy>
  <cp:revision>16</cp:revision>
  <dcterms:created xsi:type="dcterms:W3CDTF">2026-09-25T06:37:06Z</dcterms:created>
  <dcterms:modified xsi:type="dcterms:W3CDTF">2026-10-17T04:51:28Z</dcterms:modified>
</cp:coreProperties>
</file>