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33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9811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3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85C3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2344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ИНЖЕНЕРНАЯ ЗАДАЧА  ·  КОНЦЕПЦИЯ РЕШЕНИЯ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поиска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предположительного места утери БВС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35661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5D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Настольное приложение: разбираем бортовой лог, считаем зону поиска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D5D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показываем её оператору на карте.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59893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Срок разработки — 6 недель. Команда — 6 человек.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мы и какая задача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65836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11338560" cy="676656"/>
          </a:xfrm>
          <a:prstGeom prst="rect">
            <a:avLst/>
          </a:prstGeom>
          <a:solidFill>
            <a:srgbClr val="FFFDF8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005840"/>
            <a:ext cx="3840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Образовательная организация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480560" y="1005840"/>
            <a:ext cx="704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Российский новый университет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1755648"/>
            <a:ext cx="11338560" cy="676656"/>
          </a:xfrm>
          <a:prstGeom prst="rect">
            <a:avLst/>
          </a:prstGeom>
          <a:solidFill>
            <a:srgbClr val="EFE8DA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8" name="Text 6"/>
          <p:cNvSpPr/>
          <p:nvPr/>
        </p:nvSpPr>
        <p:spPr>
          <a:xfrm>
            <a:off x="594360" y="1755648"/>
            <a:ext cx="3840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Образовательная программа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80560" y="1755648"/>
            <a:ext cx="704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11480" y="2505456"/>
            <a:ext cx="11338560" cy="676656"/>
          </a:xfrm>
          <a:prstGeom prst="rect">
            <a:avLst/>
          </a:prstGeom>
          <a:solidFill>
            <a:srgbClr val="FFFDF8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505456"/>
            <a:ext cx="3840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Регион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80560" y="2505456"/>
            <a:ext cx="704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Республика Саха (Якутия)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11480" y="3255264"/>
            <a:ext cx="11338560" cy="676656"/>
          </a:xfrm>
          <a:prstGeom prst="rect">
            <a:avLst/>
          </a:prstGeom>
          <a:solidFill>
            <a:srgbClr val="EFE8DA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255264"/>
            <a:ext cx="3840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Инженерная задача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80560" y="3255264"/>
            <a:ext cx="704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поиска предположительного места утери БВС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11480" y="4005072"/>
            <a:ext cx="11338560" cy="676656"/>
          </a:xfrm>
          <a:prstGeom prst="rect">
            <a:avLst/>
          </a:prstGeom>
          <a:solidFill>
            <a:srgbClr val="FFFDF8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4005072"/>
            <a:ext cx="3840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Название команды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480560" y="4005072"/>
            <a:ext cx="704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ИКСРОС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11480" y="4754880"/>
            <a:ext cx="11338560" cy="676656"/>
          </a:xfrm>
          <a:prstGeom prst="rect">
            <a:avLst/>
          </a:prstGeom>
          <a:solidFill>
            <a:srgbClr val="EFE8DA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4754880"/>
            <a:ext cx="3840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Состав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480560" y="4754880"/>
            <a:ext cx="704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Алексеев Игорь Юрьевич – капитан, Адамова Георгина Егоровна – дизайнер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11480" y="5504688"/>
            <a:ext cx="11338560" cy="676656"/>
          </a:xfrm>
          <a:prstGeom prst="rect">
            <a:avLst/>
          </a:prstGeom>
          <a:solidFill>
            <a:srgbClr val="FFFDF8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5504688"/>
            <a:ext cx="3840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Наставник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480560" y="5504688"/>
            <a:ext cx="704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dirty="0" err="1"/>
              <a:t>Растягаев</a:t>
            </a:r>
            <a:r>
              <a:rPr lang="ru-RU" dirty="0"/>
              <a:t> Дмитрий Владимирович</a:t>
            </a:r>
            <a:r>
              <a:rPr lang="ru-RU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243044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6656832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предполагаемого места утери БВС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109960" y="665683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8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9" name="Text 4">
            <a:extLst>
              <a:ext uri="{FF2B5EF4-FFF2-40B4-BE49-F238E27FC236}">
                <a16:creationId xmlns:a16="http://schemas.microsoft.com/office/drawing/2014/main" id="{28C3D9F3-1BC2-A605-9280-C1C36957FA7C}"/>
              </a:ext>
            </a:extLst>
          </p:cNvPr>
          <p:cNvSpPr/>
          <p:nvPr/>
        </p:nvSpPr>
        <p:spPr>
          <a:xfrm>
            <a:off x="4434840" y="1709928"/>
            <a:ext cx="704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Инженерно-техническая разработка в сфере БАС: программное решение для определения вероятной зоны потери БВС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звучит задача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822960"/>
            <a:ext cx="11338560" cy="2331720"/>
          </a:xfrm>
          <a:prstGeom prst="rect">
            <a:avLst/>
          </a:prstGeom>
          <a:solidFill>
            <a:srgbClr val="24304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10881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Нужно программное обеспечение, которое по бортовым логам и аварийным сигналам прикидывает, где искать потерянный БВС, и рисует зону поиска на карте.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11480" y="333756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даёт такое решение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11480" y="3749040"/>
            <a:ext cx="3657600" cy="2606040"/>
          </a:xfrm>
          <a:prstGeom prst="rect">
            <a:avLst/>
          </a:prstGeom>
          <a:solidFill>
            <a:srgbClr val="FFFDF8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3749040"/>
            <a:ext cx="3657600" cy="73152"/>
          </a:xfrm>
          <a:prstGeom prst="rect">
            <a:avLst/>
          </a:prstGeom>
          <a:solidFill>
            <a:srgbClr val="B85C38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402336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Быстрее старт поиска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4846320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сидеть над логом вручную, когда время уже уходит.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51960" y="3749040"/>
            <a:ext cx="3657600" cy="2606040"/>
          </a:xfrm>
          <a:prstGeom prst="rect">
            <a:avLst/>
          </a:prstGeom>
          <a:solidFill>
            <a:srgbClr val="FFFDF8"/>
          </a:solidFill>
          <a:ln/>
        </p:spPr>
      </p:sp>
      <p:sp>
        <p:nvSpPr>
          <p:cNvPr id="11" name="Shape 9"/>
          <p:cNvSpPr/>
          <p:nvPr/>
        </p:nvSpPr>
        <p:spPr>
          <a:xfrm>
            <a:off x="4251960" y="3749040"/>
            <a:ext cx="3657600" cy="73152"/>
          </a:xfrm>
          <a:prstGeom prst="rect">
            <a:avLst/>
          </a:prstGeom>
          <a:solidFill>
            <a:srgbClr val="B85C38"/>
          </a:solidFill>
          <a:ln/>
        </p:spPr>
      </p:sp>
      <p:sp>
        <p:nvSpPr>
          <p:cNvPr id="12" name="Text 10"/>
          <p:cNvSpPr/>
          <p:nvPr/>
        </p:nvSpPr>
        <p:spPr>
          <a:xfrm>
            <a:off x="4434840" y="402336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Зона, а не догадка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34840" y="4846320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карте видно район, а не одну последнюю точку.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92440" y="3749040"/>
            <a:ext cx="3657600" cy="2606040"/>
          </a:xfrm>
          <a:prstGeom prst="rect">
            <a:avLst/>
          </a:prstGeom>
          <a:solidFill>
            <a:srgbClr val="FFFDF8"/>
          </a:solidFill>
          <a:ln/>
        </p:spPr>
      </p:sp>
      <p:sp>
        <p:nvSpPr>
          <p:cNvPr id="15" name="Shape 13"/>
          <p:cNvSpPr/>
          <p:nvPr/>
        </p:nvSpPr>
        <p:spPr>
          <a:xfrm>
            <a:off x="8092440" y="3749040"/>
            <a:ext cx="3657600" cy="73152"/>
          </a:xfrm>
          <a:prstGeom prst="rect">
            <a:avLst/>
          </a:prstGeom>
          <a:solidFill>
            <a:srgbClr val="B85C38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402336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Новые данные сужают круг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75320" y="4846320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Появился сигнал маяка — программа пересчитывает зону.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243044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6656832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предполагаемого места утери БВС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109960" y="665683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8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решение должно уметь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1554480" cy="841248"/>
          </a:xfrm>
          <a:prstGeom prst="rect">
            <a:avLst/>
          </a:prstGeom>
          <a:solidFill>
            <a:srgbClr val="243044"/>
          </a:solidFill>
          <a:ln/>
        </p:spPr>
      </p:sp>
      <p:sp>
        <p:nvSpPr>
          <p:cNvPr id="4" name="Text 2"/>
          <p:cNvSpPr/>
          <p:nvPr/>
        </p:nvSpPr>
        <p:spPr>
          <a:xfrm>
            <a:off x="475488" y="749808"/>
            <a:ext cx="14264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965960" y="749808"/>
            <a:ext cx="9784080" cy="841248"/>
          </a:xfrm>
          <a:prstGeom prst="rect">
            <a:avLst/>
          </a:prstGeom>
          <a:solidFill>
            <a:srgbClr val="FFFDF8"/>
          </a:solidFill>
          <a:ln/>
        </p:spPr>
      </p:sp>
      <p:sp>
        <p:nvSpPr>
          <p:cNvPr id="6" name="Text 4"/>
          <p:cNvSpPr/>
          <p:nvPr/>
        </p:nvSpPr>
        <p:spPr>
          <a:xfrm>
            <a:off x="2148840" y="749808"/>
            <a:ext cx="9464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 телеметрии и, если есть, аварийный сигнал. Если лога нет — ручной ввод последней точки, высоты, курса, зарядки.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682496"/>
            <a:ext cx="1554480" cy="841248"/>
          </a:xfrm>
          <a:prstGeom prst="rect">
            <a:avLst/>
          </a:prstGeom>
          <a:solidFill>
            <a:srgbClr val="243044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" y="1682496"/>
            <a:ext cx="14264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Расчёт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965960" y="1682496"/>
            <a:ext cx="9784080" cy="841248"/>
          </a:xfrm>
          <a:prstGeom prst="rect">
            <a:avLst/>
          </a:prstGeom>
          <a:solidFill>
            <a:srgbClr val="FFFDF8"/>
          </a:solidFill>
          <a:ln/>
        </p:spPr>
      </p:sp>
      <p:sp>
        <p:nvSpPr>
          <p:cNvPr id="10" name="Text 8"/>
          <p:cNvSpPr/>
          <p:nvPr/>
        </p:nvSpPr>
        <p:spPr>
          <a:xfrm>
            <a:off x="2148840" y="1682496"/>
            <a:ext cx="9464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Восстановить хвост траектории. Посчитать зону с учётом скорости, курса, заряда АКБ и времени потери связи.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1480" y="2615184"/>
            <a:ext cx="1554480" cy="841248"/>
          </a:xfrm>
          <a:prstGeom prst="rect">
            <a:avLst/>
          </a:prstGeom>
          <a:solidFill>
            <a:srgbClr val="243044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" y="2615184"/>
            <a:ext cx="14264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Уточнение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965960" y="2615184"/>
            <a:ext cx="9784080" cy="841248"/>
          </a:xfrm>
          <a:prstGeom prst="rect">
            <a:avLst/>
          </a:prstGeom>
          <a:solidFill>
            <a:srgbClr val="FFFDF8"/>
          </a:solidFill>
          <a:ln/>
        </p:spPr>
      </p:sp>
      <p:sp>
        <p:nvSpPr>
          <p:cNvPr id="14" name="Text 12"/>
          <p:cNvSpPr/>
          <p:nvPr/>
        </p:nvSpPr>
        <p:spPr>
          <a:xfrm>
            <a:off x="2148840" y="2615184"/>
            <a:ext cx="9464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Новый сигнал маяка не рисует вторую картинку, а сужает уже посчитанный район.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11480" y="3547872"/>
            <a:ext cx="1554480" cy="841248"/>
          </a:xfrm>
          <a:prstGeom prst="rect">
            <a:avLst/>
          </a:prstGeom>
          <a:solidFill>
            <a:srgbClr val="243044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" y="3547872"/>
            <a:ext cx="14264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965960" y="3547872"/>
            <a:ext cx="9784080" cy="841248"/>
          </a:xfrm>
          <a:prstGeom prst="rect">
            <a:avLst/>
          </a:prstGeom>
          <a:solidFill>
            <a:srgbClr val="FFFDF8"/>
          </a:solidFill>
          <a:ln/>
        </p:spPr>
      </p:sp>
      <p:sp>
        <p:nvSpPr>
          <p:cNvPr id="18" name="Text 16"/>
          <p:cNvSpPr/>
          <p:nvPr/>
        </p:nvSpPr>
        <p:spPr>
          <a:xfrm>
            <a:off x="2148840" y="3547872"/>
            <a:ext cx="9464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Зона поиска на карте и короткая подсказка оператору, откуда начинать.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11480" y="5413248"/>
            <a:ext cx="1554480" cy="841248"/>
          </a:xfrm>
          <a:prstGeom prst="rect">
            <a:avLst/>
          </a:prstGeom>
          <a:solidFill>
            <a:srgbClr val="243044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" y="5413248"/>
            <a:ext cx="14264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сдаём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965960" y="5413248"/>
            <a:ext cx="9784080" cy="841248"/>
          </a:xfrm>
          <a:prstGeom prst="rect">
            <a:avLst/>
          </a:prstGeom>
          <a:solidFill>
            <a:srgbClr val="FFFDF8"/>
          </a:solidFill>
          <a:ln/>
        </p:spPr>
      </p:sp>
      <p:sp>
        <p:nvSpPr>
          <p:cNvPr id="26" name="Text 24"/>
          <p:cNvSpPr/>
          <p:nvPr/>
        </p:nvSpPr>
        <p:spPr>
          <a:xfrm>
            <a:off x="2148840" y="5413248"/>
            <a:ext cx="9464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Репозиторий с историей, тесты на ключевые модули, инструкция и запуск одной командой.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243044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6656832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предполагаемого места утери БВС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109960" y="665683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8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уже есть на рынке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31520"/>
            <a:ext cx="2377440" cy="438912"/>
          </a:xfrm>
          <a:prstGeom prst="rect">
            <a:avLst/>
          </a:prstGeom>
          <a:solidFill>
            <a:srgbClr val="243044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73152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88920" y="731520"/>
            <a:ext cx="4297680" cy="438912"/>
          </a:xfrm>
          <a:prstGeom prst="rect">
            <a:avLst/>
          </a:prstGeom>
          <a:solidFill>
            <a:srgbClr val="243044"/>
          </a:solidFill>
          <a:ln/>
        </p:spPr>
      </p:sp>
      <p:sp>
        <p:nvSpPr>
          <p:cNvPr id="6" name="Text 4"/>
          <p:cNvSpPr/>
          <p:nvPr/>
        </p:nvSpPr>
        <p:spPr>
          <a:xfrm>
            <a:off x="2788920" y="731520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делает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086600" y="731520"/>
            <a:ext cx="4480560" cy="438912"/>
          </a:xfrm>
          <a:prstGeom prst="rect">
            <a:avLst/>
          </a:prstGeom>
          <a:solidFill>
            <a:srgbClr val="243044"/>
          </a:solidFill>
          <a:ln/>
        </p:spPr>
      </p:sp>
      <p:sp>
        <p:nvSpPr>
          <p:cNvPr id="8" name="Text 6"/>
          <p:cNvSpPr/>
          <p:nvPr/>
        </p:nvSpPr>
        <p:spPr>
          <a:xfrm>
            <a:off x="7086600" y="731520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спотыкается под нашу задачу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170432"/>
            <a:ext cx="2377440" cy="1280160"/>
          </a:xfrm>
          <a:prstGeom prst="rect">
            <a:avLst/>
          </a:prstGeom>
          <a:solidFill>
            <a:srgbClr val="FFFDF8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" y="1170432"/>
            <a:ext cx="21762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My Drone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приложении производителя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88920" y="1170432"/>
            <a:ext cx="4297680" cy="1280160"/>
          </a:xfrm>
          <a:prstGeom prst="rect">
            <a:avLst/>
          </a:prstGeom>
          <a:solidFill>
            <a:srgbClr val="FFFDF8"/>
          </a:solidFill>
          <a:ln/>
        </p:spPr>
      </p:sp>
      <p:sp>
        <p:nvSpPr>
          <p:cNvPr id="12" name="Text 10"/>
          <p:cNvSpPr/>
          <p:nvPr/>
        </p:nvSpPr>
        <p:spPr>
          <a:xfrm>
            <a:off x="2898648" y="1170432"/>
            <a:ext cx="40965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Показывает последнюю точку и трек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086600" y="1170432"/>
            <a:ext cx="4480560" cy="1280160"/>
          </a:xfrm>
          <a:prstGeom prst="rect">
            <a:avLst/>
          </a:prstGeom>
          <a:solidFill>
            <a:srgbClr val="FFFDF8"/>
          </a:solidFill>
          <a:ln/>
        </p:spPr>
      </p:sp>
      <p:sp>
        <p:nvSpPr>
          <p:cNvPr id="14" name="Text 12"/>
          <p:cNvSpPr/>
          <p:nvPr/>
        </p:nvSpPr>
        <p:spPr>
          <a:xfrm>
            <a:off x="7196328" y="1170432"/>
            <a:ext cx="42793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модели сноса и единого формата. После обрыва это всё ещё точка в воздухе.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1480" y="2450592"/>
            <a:ext cx="2377440" cy="1280160"/>
          </a:xfrm>
          <a:prstGeom prst="rect">
            <a:avLst/>
          </a:prstGeom>
          <a:solidFill>
            <a:srgbClr val="EFE8DA"/>
          </a:solidFill>
          <a:ln/>
        </p:spPr>
      </p:sp>
      <p:sp>
        <p:nvSpPr>
          <p:cNvPr id="16" name="Text 14"/>
          <p:cNvSpPr/>
          <p:nvPr/>
        </p:nvSpPr>
        <p:spPr>
          <a:xfrm>
            <a:off x="521208" y="2450592"/>
            <a:ext cx="21762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лога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(AirData и аналоги)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88920" y="2450592"/>
            <a:ext cx="4297680" cy="1280160"/>
          </a:xfrm>
          <a:prstGeom prst="rect">
            <a:avLst/>
          </a:prstGeom>
          <a:solidFill>
            <a:srgbClr val="EFE8DA"/>
          </a:solidFill>
          <a:ln/>
        </p:spPr>
      </p:sp>
      <p:sp>
        <p:nvSpPr>
          <p:cNvPr id="18" name="Text 16"/>
          <p:cNvSpPr/>
          <p:nvPr/>
        </p:nvSpPr>
        <p:spPr>
          <a:xfrm>
            <a:off x="2898648" y="2450592"/>
            <a:ext cx="40965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Красиво рисует полёт после факта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086600" y="2450592"/>
            <a:ext cx="4480560" cy="1280160"/>
          </a:xfrm>
          <a:prstGeom prst="rect">
            <a:avLst/>
          </a:prstGeom>
          <a:solidFill>
            <a:srgbClr val="EFE8DA"/>
          </a:solidFill>
          <a:ln/>
        </p:spPr>
      </p:sp>
      <p:sp>
        <p:nvSpPr>
          <p:cNvPr id="20" name="Text 18"/>
          <p:cNvSpPr/>
          <p:nvPr/>
        </p:nvSpPr>
        <p:spPr>
          <a:xfrm>
            <a:off x="7196328" y="2450592"/>
            <a:ext cx="42793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считает зону поиска и не живёт как полевой инструмент.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11480" y="3730752"/>
            <a:ext cx="2377440" cy="1280160"/>
          </a:xfrm>
          <a:prstGeom prst="rect">
            <a:avLst/>
          </a:prstGeom>
          <a:solidFill>
            <a:srgbClr val="FFFDF8"/>
          </a:solidFill>
          <a:ln/>
        </p:spPr>
      </p:sp>
      <p:sp>
        <p:nvSpPr>
          <p:cNvPr id="22" name="Text 20"/>
          <p:cNvSpPr/>
          <p:nvPr/>
        </p:nvSpPr>
        <p:spPr>
          <a:xfrm>
            <a:off x="521208" y="3730752"/>
            <a:ext cx="21762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GPS-трекер / SIM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788920" y="3730752"/>
            <a:ext cx="4297680" cy="1280160"/>
          </a:xfrm>
          <a:prstGeom prst="rect">
            <a:avLst/>
          </a:prstGeom>
          <a:solidFill>
            <a:srgbClr val="FFFDF8"/>
          </a:solidFill>
          <a:ln/>
        </p:spPr>
      </p:sp>
      <p:sp>
        <p:nvSpPr>
          <p:cNvPr id="24" name="Text 22"/>
          <p:cNvSpPr/>
          <p:nvPr/>
        </p:nvSpPr>
        <p:spPr>
          <a:xfrm>
            <a:off x="2898648" y="3730752"/>
            <a:ext cx="40965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Шлёт координату, если сам жив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086600" y="3730752"/>
            <a:ext cx="4480560" cy="1280160"/>
          </a:xfrm>
          <a:prstGeom prst="rect">
            <a:avLst/>
          </a:prstGeom>
          <a:solidFill>
            <a:srgbClr val="FFFDF8"/>
          </a:solidFill>
          <a:ln/>
        </p:spPr>
      </p:sp>
      <p:sp>
        <p:nvSpPr>
          <p:cNvPr id="26" name="Text 24"/>
          <p:cNvSpPr/>
          <p:nvPr/>
        </p:nvSpPr>
        <p:spPr>
          <a:xfrm>
            <a:off x="7196328" y="3730752"/>
            <a:ext cx="42793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железо. В задаче его может не быть, а программу всё равно просят.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11480" y="5010912"/>
            <a:ext cx="2377440" cy="1280160"/>
          </a:xfrm>
          <a:prstGeom prst="rect">
            <a:avLst/>
          </a:prstGeom>
          <a:solidFill>
            <a:srgbClr val="EFE8DA"/>
          </a:solidFill>
          <a:ln/>
        </p:spPr>
      </p:sp>
      <p:sp>
        <p:nvSpPr>
          <p:cNvPr id="28" name="Text 26"/>
          <p:cNvSpPr/>
          <p:nvPr/>
        </p:nvSpPr>
        <p:spPr>
          <a:xfrm>
            <a:off x="521208" y="5010912"/>
            <a:ext cx="21762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Радиомаяк, LoRa, пищалка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788920" y="5010912"/>
            <a:ext cx="4297680" cy="1280160"/>
          </a:xfrm>
          <a:prstGeom prst="rect">
            <a:avLst/>
          </a:prstGeom>
          <a:solidFill>
            <a:srgbClr val="EFE8DA"/>
          </a:solidFill>
          <a:ln/>
        </p:spPr>
      </p:sp>
      <p:sp>
        <p:nvSpPr>
          <p:cNvPr id="30" name="Text 28"/>
          <p:cNvSpPr/>
          <p:nvPr/>
        </p:nvSpPr>
        <p:spPr>
          <a:xfrm>
            <a:off x="2898648" y="5010912"/>
            <a:ext cx="40965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Помогает дойти на месте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086600" y="5010912"/>
            <a:ext cx="4480560" cy="1280160"/>
          </a:xfrm>
          <a:prstGeom prst="rect">
            <a:avLst/>
          </a:prstGeom>
          <a:solidFill>
            <a:srgbClr val="EFE8DA"/>
          </a:solidFill>
          <a:ln/>
        </p:spPr>
      </p:sp>
      <p:sp>
        <p:nvSpPr>
          <p:cNvPr id="32" name="Text 30"/>
          <p:cNvSpPr/>
          <p:nvPr/>
        </p:nvSpPr>
        <p:spPr>
          <a:xfrm>
            <a:off x="7196328" y="5010912"/>
            <a:ext cx="42793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заменяет разбор лога. Для нас это уточнение зоны, не замена расчёта.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243044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6656832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предполагаемого места утери БВС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109960" y="665683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8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задача реально сложная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243044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6656832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предполагаемого места утери БВС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109960" y="665683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8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Чем закрываем задачу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143000"/>
            <a:ext cx="3657600" cy="2377440"/>
          </a:xfrm>
          <a:prstGeom prst="rect">
            <a:avLst/>
          </a:prstGeom>
          <a:solidFill>
            <a:srgbClr val="FFFDF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459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Общий язык проекта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51960" y="1143000"/>
            <a:ext cx="3657600" cy="2377440"/>
          </a:xfrm>
          <a:prstGeom prst="rect">
            <a:avLst/>
          </a:prstGeom>
          <a:solidFill>
            <a:srgbClr val="FFFDF8"/>
          </a:solidFill>
          <a:ln/>
        </p:spPr>
      </p:sp>
      <p:sp>
        <p:nvSpPr>
          <p:cNvPr id="8" name="Text 6"/>
          <p:cNvSpPr/>
          <p:nvPr/>
        </p:nvSpPr>
        <p:spPr>
          <a:xfrm>
            <a:off x="4480560" y="16459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/ NumPy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480560" y="24688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лога и расчёты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92440" y="1143000"/>
            <a:ext cx="3657600" cy="2377440"/>
          </a:xfrm>
          <a:prstGeom prst="rect">
            <a:avLst/>
          </a:prstGeom>
          <a:solidFill>
            <a:srgbClr val="FFFDF8"/>
          </a:solidFill>
          <a:ln/>
        </p:spPr>
      </p:sp>
      <p:sp>
        <p:nvSpPr>
          <p:cNvPr id="11" name="Text 9"/>
          <p:cNvSpPr/>
          <p:nvPr/>
        </p:nvSpPr>
        <p:spPr>
          <a:xfrm>
            <a:off x="8321040" y="16459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формула гаверсинуса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321040" y="24688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Смещение точки по курсу и ветру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11480" y="3703320"/>
            <a:ext cx="3657600" cy="2377440"/>
          </a:xfrm>
          <a:prstGeom prst="rect">
            <a:avLst/>
          </a:prstGeom>
          <a:solidFill>
            <a:srgbClr val="FFFDF8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2062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PySide6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" y="50292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Окно программы на компьютере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251960" y="3703320"/>
            <a:ext cx="3657600" cy="2377440"/>
          </a:xfrm>
          <a:prstGeom prst="rect">
            <a:avLst/>
          </a:prstGeom>
          <a:solidFill>
            <a:srgbClr val="FFFDF8"/>
          </a:solidFill>
          <a:ln/>
        </p:spPr>
      </p:sp>
      <p:sp>
        <p:nvSpPr>
          <p:cNvPr id="17" name="Text 15"/>
          <p:cNvSpPr/>
          <p:nvPr/>
        </p:nvSpPr>
        <p:spPr>
          <a:xfrm>
            <a:off x="4480560" y="42062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430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Leaflet</a:t>
            </a: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OSM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480560" y="50292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 внутри окна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092440" y="3703320"/>
            <a:ext cx="3657600" cy="2377440"/>
          </a:xfrm>
          <a:prstGeom prst="rect">
            <a:avLst/>
          </a:prstGeom>
          <a:solidFill>
            <a:srgbClr val="FFFDF8"/>
          </a:solidFill>
          <a:ln/>
        </p:spPr>
      </p:sp>
      <p:sp>
        <p:nvSpPr>
          <p:cNvPr id="20" name="Text 18"/>
          <p:cNvSpPr/>
          <p:nvPr/>
        </p:nvSpPr>
        <p:spPr>
          <a:xfrm>
            <a:off x="8321040" y="42062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+ Git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21040" y="50292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Тесты и история работы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243044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6656832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предполагаемого места утери БВС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109960" y="665683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8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Гипотеза, от </a:t>
            </a:r>
            <a:r>
              <a:rPr lang="en-US" sz="2600" b="1" dirty="0" err="1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которой</a:t>
            </a:r>
            <a:r>
              <a:rPr lang="en-US" sz="26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26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отталкиваемся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822960"/>
            <a:ext cx="11338560" cy="1828800"/>
          </a:xfrm>
          <a:prstGeom prst="rect">
            <a:avLst/>
          </a:prstGeom>
          <a:solidFill>
            <a:srgbClr val="24304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1088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Последняя строка лога — не место утери. Это старт расчёта. Если сложить хвост траектории, остаток энергии, курс и ветер, район поиска становится заметно уже, чем «ходить вокруг последней точки».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1480" y="2880360"/>
            <a:ext cx="3657600" cy="3474720"/>
          </a:xfrm>
          <a:prstGeom prst="rect">
            <a:avLst/>
          </a:prstGeom>
          <a:solidFill>
            <a:srgbClr val="FFFDF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108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5661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одна правда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448056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Считаем несколько продолжений: упал сразу, ушёл по курсу, пошёл домой. Потом накладываем.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51960" y="2880360"/>
            <a:ext cx="3657600" cy="3474720"/>
          </a:xfrm>
          <a:prstGeom prst="rect">
            <a:avLst/>
          </a:prstGeom>
          <a:solidFill>
            <a:srgbClr val="FFFDF8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3108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80560" y="35661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Честная уверенность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480560" y="448056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Мало данных — зона больше. Появился маяк — зона сжимается.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92440" y="2880360"/>
            <a:ext cx="3657600" cy="3474720"/>
          </a:xfrm>
          <a:prstGeom prst="rect">
            <a:avLst/>
          </a:prstGeom>
          <a:solidFill>
            <a:srgbClr val="FFFDF8"/>
          </a:solidFill>
          <a:ln/>
        </p:spPr>
      </p:sp>
      <p:sp>
        <p:nvSpPr>
          <p:cNvPr id="14" name="Text 12"/>
          <p:cNvSpPr/>
          <p:nvPr/>
        </p:nvSpPr>
        <p:spPr>
          <a:xfrm>
            <a:off x="8321040" y="3108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21040" y="35661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Программа на компьютер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21040" y="448056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Оператор открывает окно на ноутбуке. Расчёт не зависит от сайта.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243044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6656832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предполагаемого места утери БВС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109960" y="665683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8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программа делает по шагам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822960"/>
            <a:ext cx="3657600" cy="2560320"/>
          </a:xfrm>
          <a:prstGeom prst="rect">
            <a:avLst/>
          </a:prstGeom>
          <a:solidFill>
            <a:srgbClr val="FFFDF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8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Открыть случай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Новая карточка или уже сохранённый файл с диска.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51960" y="822960"/>
            <a:ext cx="3657600" cy="2560320"/>
          </a:xfrm>
          <a:prstGeom prst="rect">
            <a:avLst/>
          </a:prstGeom>
          <a:solidFill>
            <a:srgbClr val="FFFDF8"/>
          </a:solidFill>
          <a:ln/>
        </p:spPr>
      </p:sp>
      <p:sp>
        <p:nvSpPr>
          <p:cNvPr id="8" name="Text 6"/>
          <p:cNvSpPr/>
          <p:nvPr/>
        </p:nvSpPr>
        <p:spPr>
          <a:xfrm>
            <a:off x="4480560" y="1051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8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480560" y="15087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Забрать данные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480560" y="210312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Разобрать лог. Если файла нет — заполнить поля руками.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92440" y="822960"/>
            <a:ext cx="3657600" cy="2560320"/>
          </a:xfrm>
          <a:prstGeom prst="rect">
            <a:avLst/>
          </a:prstGeom>
          <a:solidFill>
            <a:srgbClr val="FFFDF8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1051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8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321040" y="15087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Собрать траекторию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321040" y="210312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Показать хвост полёта до обрыва связи.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11480" y="3566160"/>
            <a:ext cx="3657600" cy="2560320"/>
          </a:xfrm>
          <a:prstGeom prst="rect">
            <a:avLst/>
          </a:prstGeom>
          <a:solidFill>
            <a:srgbClr val="FFFDF8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794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8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0080" y="42519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Посчитать зону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0080" y="484632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Скорость, курс, заряд, время, ветер. Если пришёл маяк — пересчитать.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251960" y="3566160"/>
            <a:ext cx="3657600" cy="2560320"/>
          </a:xfrm>
          <a:prstGeom prst="rect">
            <a:avLst/>
          </a:prstGeom>
          <a:solidFill>
            <a:srgbClr val="FFFDF8"/>
          </a:solidFill>
          <a:ln/>
        </p:spPr>
      </p:sp>
      <p:sp>
        <p:nvSpPr>
          <p:cNvPr id="20" name="Text 18"/>
          <p:cNvSpPr/>
          <p:nvPr/>
        </p:nvSpPr>
        <p:spPr>
          <a:xfrm>
            <a:off x="4480560" y="3794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8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480560" y="42519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Показать карту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480560" y="484632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обрыва, пятно поиска, короткая фраза оператору.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092440" y="3566160"/>
            <a:ext cx="3657600" cy="2560320"/>
          </a:xfrm>
          <a:prstGeom prst="rect">
            <a:avLst/>
          </a:prstGeom>
          <a:solidFill>
            <a:srgbClr val="FFFDF8"/>
          </a:solidFill>
          <a:ln/>
        </p:spPr>
      </p:sp>
      <p:sp>
        <p:nvSpPr>
          <p:cNvPr id="24" name="Text 22"/>
          <p:cNvSpPr/>
          <p:nvPr/>
        </p:nvSpPr>
        <p:spPr>
          <a:xfrm>
            <a:off x="8321040" y="3794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8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321040" y="42519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Отдать наружу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321040" y="484632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Сохранить случай и выгрузить KML, чтобы открыть район в телефоне.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243044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6656832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предполагаемого места утери БВС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109960" y="665683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8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устроено внутри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2194560" cy="2148840"/>
          </a:xfrm>
          <a:prstGeom prst="rect">
            <a:avLst/>
          </a:prstGeom>
          <a:solidFill>
            <a:srgbClr val="FFFDF8"/>
          </a:solidFill>
          <a:ln/>
        </p:spPr>
      </p:sp>
      <p:sp>
        <p:nvSpPr>
          <p:cNvPr id="4" name="Text 2"/>
          <p:cNvSpPr/>
          <p:nvPr/>
        </p:nvSpPr>
        <p:spPr>
          <a:xfrm>
            <a:off x="475488" y="960120"/>
            <a:ext cx="197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Окно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75488" y="1463040"/>
            <a:ext cx="19751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Поля, кнопки,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меню, карта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450592" y="1737360"/>
            <a:ext cx="219456" cy="182880"/>
          </a:xfrm>
          <a:prstGeom prst="rightArrow">
            <a:avLst/>
          </a:prstGeom>
          <a:solidFill>
            <a:srgbClr val="B85C38"/>
          </a:solidFill>
          <a:ln/>
        </p:spPr>
      </p:sp>
      <p:sp>
        <p:nvSpPr>
          <p:cNvPr id="7" name="Shape 5"/>
          <p:cNvSpPr/>
          <p:nvPr/>
        </p:nvSpPr>
        <p:spPr>
          <a:xfrm>
            <a:off x="2724912" y="822960"/>
            <a:ext cx="2194560" cy="2148840"/>
          </a:xfrm>
          <a:prstGeom prst="rect">
            <a:avLst/>
          </a:prstGeom>
          <a:solidFill>
            <a:srgbClr val="FFFDF8"/>
          </a:solidFill>
          <a:ln/>
        </p:spPr>
      </p:sp>
      <p:sp>
        <p:nvSpPr>
          <p:cNvPr id="8" name="Text 6"/>
          <p:cNvSpPr/>
          <p:nvPr/>
        </p:nvSpPr>
        <p:spPr>
          <a:xfrm>
            <a:off x="2834640" y="960120"/>
            <a:ext cx="197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Парсер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834640" y="1463040"/>
            <a:ext cx="19751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 → единая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таблица точек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09744" y="1737360"/>
            <a:ext cx="219456" cy="182880"/>
          </a:xfrm>
          <a:prstGeom prst="rightArrow">
            <a:avLst/>
          </a:prstGeom>
          <a:solidFill>
            <a:srgbClr val="B85C38"/>
          </a:solidFill>
          <a:ln/>
        </p:spPr>
      </p:sp>
      <p:sp>
        <p:nvSpPr>
          <p:cNvPr id="11" name="Shape 9"/>
          <p:cNvSpPr/>
          <p:nvPr/>
        </p:nvSpPr>
        <p:spPr>
          <a:xfrm>
            <a:off x="5084064" y="822960"/>
            <a:ext cx="2194560" cy="2148840"/>
          </a:xfrm>
          <a:prstGeom prst="rect">
            <a:avLst/>
          </a:prstGeom>
          <a:solidFill>
            <a:srgbClr val="243044"/>
          </a:solidFill>
          <a:ln/>
        </p:spPr>
      </p:sp>
      <p:sp>
        <p:nvSpPr>
          <p:cNvPr id="12" name="Text 10"/>
          <p:cNvSpPr/>
          <p:nvPr/>
        </p:nvSpPr>
        <p:spPr>
          <a:xfrm>
            <a:off x="5193792" y="960120"/>
            <a:ext cx="197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Ядро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93792" y="1463040"/>
            <a:ext cx="19751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5D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Гипотезы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5D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зона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168896" y="1737360"/>
            <a:ext cx="219456" cy="182880"/>
          </a:xfrm>
          <a:prstGeom prst="rightArrow">
            <a:avLst/>
          </a:prstGeom>
          <a:solidFill>
            <a:srgbClr val="B85C38"/>
          </a:solidFill>
          <a:ln/>
        </p:spPr>
      </p:sp>
      <p:sp>
        <p:nvSpPr>
          <p:cNvPr id="15" name="Shape 13"/>
          <p:cNvSpPr/>
          <p:nvPr/>
        </p:nvSpPr>
        <p:spPr>
          <a:xfrm>
            <a:off x="7443216" y="822960"/>
            <a:ext cx="2194560" cy="2148840"/>
          </a:xfrm>
          <a:prstGeom prst="rect">
            <a:avLst/>
          </a:prstGeom>
          <a:solidFill>
            <a:srgbClr val="FFFDF8"/>
          </a:solidFill>
          <a:ln/>
        </p:spPr>
      </p:sp>
      <p:sp>
        <p:nvSpPr>
          <p:cNvPr id="16" name="Text 14"/>
          <p:cNvSpPr/>
          <p:nvPr/>
        </p:nvSpPr>
        <p:spPr>
          <a:xfrm>
            <a:off x="7552944" y="960120"/>
            <a:ext cx="197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552944" y="1463040"/>
            <a:ext cx="19751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окне Qt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528048" y="1737360"/>
            <a:ext cx="219456" cy="182880"/>
          </a:xfrm>
          <a:prstGeom prst="rightArrow">
            <a:avLst/>
          </a:prstGeom>
          <a:solidFill>
            <a:srgbClr val="B85C38"/>
          </a:solidFill>
          <a:ln/>
        </p:spPr>
      </p:sp>
      <p:sp>
        <p:nvSpPr>
          <p:cNvPr id="19" name="Shape 17"/>
          <p:cNvSpPr/>
          <p:nvPr/>
        </p:nvSpPr>
        <p:spPr>
          <a:xfrm>
            <a:off x="9802368" y="822960"/>
            <a:ext cx="2194560" cy="2148840"/>
          </a:xfrm>
          <a:prstGeom prst="rect">
            <a:avLst/>
          </a:prstGeom>
          <a:solidFill>
            <a:srgbClr val="FFFDF8"/>
          </a:solidFill>
          <a:ln/>
        </p:spPr>
      </p:sp>
      <p:sp>
        <p:nvSpPr>
          <p:cNvPr id="20" name="Text 18"/>
          <p:cNvSpPr/>
          <p:nvPr/>
        </p:nvSpPr>
        <p:spPr>
          <a:xfrm>
            <a:off x="9912096" y="960120"/>
            <a:ext cx="197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Файлы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912096" y="1463040"/>
            <a:ext cx="19751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/ SQLite,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выгрузка KML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11480" y="3200400"/>
            <a:ext cx="11338560" cy="3108960"/>
          </a:xfrm>
          <a:prstGeom prst="rect">
            <a:avLst/>
          </a:prstGeom>
          <a:solidFill>
            <a:srgbClr val="FFFDF8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3832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Порядок работы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0080" y="3794760"/>
            <a:ext cx="10881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Оператор открывает лог или вводит последнюю точку. Парсер приводит всё к одному виду. Ядро восстанавливает хвост полёта и считает несколько продолжений: падение с ветром, полёт по курсу, возврат домой. Если пришёл сигнал маяка, зона сжимается вокруг него. Результат уходит на карту и в текст справа. Случай можно сохранить и отдать координаты в телефон.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243044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6656832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предполагаемого места утери БВС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109960" y="665683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8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это выглядит у оператора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40080"/>
            <a:ext cx="11430000" cy="5715000"/>
          </a:xfrm>
          <a:prstGeom prst="rect">
            <a:avLst/>
          </a:prstGeom>
          <a:solidFill>
            <a:srgbClr val="24304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4980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места утери БВС      Файл     Расчёт     Справка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115568"/>
            <a:ext cx="2880360" cy="5029200"/>
          </a:xfrm>
          <a:prstGeom prst="rect">
            <a:avLst/>
          </a:prstGeom>
          <a:solidFill>
            <a:srgbClr val="FFFDF8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2344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потери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3232" y="1600200"/>
            <a:ext cx="25603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Последняя точка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Высота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и скорость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Зарядка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Ветер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случилось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Место взлёта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Рассчитать зону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Открыть лог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11880" y="1115568"/>
            <a:ext cx="5074920" cy="5029200"/>
          </a:xfrm>
          <a:prstGeom prst="rect">
            <a:avLst/>
          </a:prstGeom>
          <a:solidFill>
            <a:srgbClr val="E4EBE6"/>
          </a:solidFill>
          <a:ln/>
        </p:spPr>
      </p:sp>
      <p:sp>
        <p:nvSpPr>
          <p:cNvPr id="9" name="Text 7"/>
          <p:cNvSpPr/>
          <p:nvPr/>
        </p:nvSpPr>
        <p:spPr>
          <a:xfrm>
            <a:off x="3794760" y="1234440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92040" y="2468880"/>
            <a:ext cx="2468880" cy="1737360"/>
          </a:xfrm>
          <a:prstGeom prst="ellipse">
            <a:avLst/>
          </a:prstGeom>
          <a:solidFill>
            <a:srgbClr val="C5D7CB"/>
          </a:solidFill>
          <a:ln w="19050">
            <a:solidFill>
              <a:srgbClr val="3E6B4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89320" y="3200400"/>
            <a:ext cx="182880" cy="182880"/>
          </a:xfrm>
          <a:prstGeom prst="ellipse">
            <a:avLst/>
          </a:prstGeom>
          <a:solidFill>
            <a:srgbClr val="243044"/>
          </a:solidFill>
          <a:ln/>
        </p:spPr>
      </p:sp>
      <p:sp>
        <p:nvSpPr>
          <p:cNvPr id="12" name="Text 10"/>
          <p:cNvSpPr/>
          <p:nvPr/>
        </p:nvSpPr>
        <p:spPr>
          <a:xfrm>
            <a:off x="3794760" y="5715000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последняя точка и пятно поиска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869680" y="1115568"/>
            <a:ext cx="2697480" cy="5029200"/>
          </a:xfrm>
          <a:prstGeom prst="rect">
            <a:avLst/>
          </a:prstGeom>
          <a:solidFill>
            <a:srgbClr val="FFFDF8"/>
          </a:solidFill>
          <a:ln/>
        </p:spPr>
      </p:sp>
      <p:sp>
        <p:nvSpPr>
          <p:cNvPr id="14" name="Text 12"/>
          <p:cNvSpPr/>
          <p:nvPr/>
        </p:nvSpPr>
        <p:spPr>
          <a:xfrm>
            <a:off x="9034272" y="12344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034272" y="1645920"/>
            <a:ext cx="23774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Уверенность: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средняя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Начните здесь.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Овал примерно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на 80 м.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Смещение по ветру.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Сохранить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Выгрузить KML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243044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6656832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предполагаемого места утери БВС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109960" y="665683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8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Шесть недель по делу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243044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6656832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предполагаемого места утери БВС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109960" y="665683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8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нужно, чтобы это сделать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822960"/>
            <a:ext cx="11338560" cy="1261872"/>
          </a:xfrm>
          <a:prstGeom prst="rect">
            <a:avLst/>
          </a:prstGeom>
          <a:solidFill>
            <a:srgbClr val="FFFDF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Оборудование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Шесть рабочих мест с компьютерами. Один ноутбук без среды разработки — на нём проверяем сборку. По возможности учебные логи полёта.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2880360"/>
            <a:ext cx="11338560" cy="1261872"/>
          </a:xfrm>
          <a:prstGeom prst="rect">
            <a:avLst/>
          </a:prstGeom>
          <a:solidFill>
            <a:srgbClr val="FFFDF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0175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3832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3.10+, PySide6, pandas, NumPy, pytest. Карта — Leaflet и тайлы OSM. Git. Сборка установщика под Windows.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11480" y="4937760"/>
            <a:ext cx="11338560" cy="1261872"/>
          </a:xfrm>
          <a:prstGeom prst="rect">
            <a:avLst/>
          </a:prstGeom>
          <a:solidFill>
            <a:srgbClr val="FFFDF8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5074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Ещё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5440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 в репозиторий для куратора. Раз в неделю короткий созвон. К 2-й неделе — живой модуль парсера и расчёта зоны.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243044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6656832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предполагаемого места утери БВС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109960" y="665683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8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хотим уточнить у заказчика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822960"/>
            <a:ext cx="640080" cy="932688"/>
          </a:xfrm>
          <a:prstGeom prst="rect">
            <a:avLst/>
          </a:prstGeom>
          <a:solidFill>
            <a:srgbClr val="243044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822960"/>
            <a:ext cx="640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51560" y="822960"/>
            <a:ext cx="10698480" cy="932688"/>
          </a:xfrm>
          <a:prstGeom prst="rect">
            <a:avLst/>
          </a:prstGeom>
          <a:solidFill>
            <a:srgbClr val="FFFDF8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822960"/>
            <a:ext cx="102870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 ли реальные логи, на которых можно обкатать парсер, или считаем на учебных CSV?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11480" y="1874520"/>
            <a:ext cx="640080" cy="932688"/>
          </a:xfrm>
          <a:prstGeom prst="rect">
            <a:avLst/>
          </a:prstGeom>
          <a:solidFill>
            <a:srgbClr val="243044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874520"/>
            <a:ext cx="640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51560" y="1874520"/>
            <a:ext cx="10698480" cy="932688"/>
          </a:xfrm>
          <a:prstGeom prst="rect">
            <a:avLst/>
          </a:prstGeom>
          <a:solidFill>
            <a:srgbClr val="FFFDF8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1874520"/>
            <a:ext cx="102870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Какой формат аварийного маяка ждать — координата, время, или только факт сигнала?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11480" y="2926080"/>
            <a:ext cx="640080" cy="932688"/>
          </a:xfrm>
          <a:prstGeom prst="rect">
            <a:avLst/>
          </a:prstGeom>
          <a:solidFill>
            <a:srgbClr val="243044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2926080"/>
            <a:ext cx="640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51560" y="2926080"/>
            <a:ext cx="10698480" cy="932688"/>
          </a:xfrm>
          <a:prstGeom prst="rect">
            <a:avLst/>
          </a:prstGeom>
          <a:solidFill>
            <a:srgbClr val="FFFDF8"/>
          </a:solidFill>
          <a:ln/>
        </p:spPr>
      </p:sp>
      <p:sp>
        <p:nvSpPr>
          <p:cNvPr id="14" name="Text 12"/>
          <p:cNvSpPr/>
          <p:nvPr/>
        </p:nvSpPr>
        <p:spPr>
          <a:xfrm>
            <a:off x="1280160" y="2926080"/>
            <a:ext cx="102870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Какой тип БВС основной: коптер, крыло, или оба? От этого пляшет скорость снижения.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243044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6656832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предполагаемого места утери БВС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109960" y="665683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8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351</TotalTime>
  <Words>997</Words>
  <Application>Microsoft Office PowerPoint</Application>
  <PresentationFormat>Широкоэкранный</PresentationFormat>
  <Paragraphs>202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Система поиска предположительного места утери БВС</dc:title>
  <dc:subject>Презентация концепции инженерного решения</dc:subject>
  <dc:creator>Молодёжная инженерная команда</dc:creator>
  <cp:lastModifiedBy>Пользователь</cp:lastModifiedBy>
  <cp:revision>3</cp:revision>
  <dcterms:created xsi:type="dcterms:W3CDTF">2026-09-09T02:33:56Z</dcterms:created>
  <dcterms:modified xsi:type="dcterms:W3CDTF">2026-09-09T12:12:17Z</dcterms:modified>
</cp:coreProperties>
</file>